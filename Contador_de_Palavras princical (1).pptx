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irsI5JHCn8l5oB6zYNsmkdtHY5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023D61F-9B25-46F5-9401-E308C6E56F34}">
  <a:tblStyle styleId="{0023D61F-9B25-46F5-9401-E308C6E56F3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customschemas.google.com/relationships/presentationmetadata" Target="meta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E3D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B1E3D"/>
                </a:solidFill>
                <a:latin typeface="Arial"/>
              </a:rPr>
              <a:t>Speedup obtido vs. ideal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Speedup obtido</c:v>
                </c:pt>
              </c:strCache>
            </c:strRef>
          </c:tx>
          <c:spPr>
            <a:solidFill>
              <a:srgbClr val="FF6A13"/>
            </a:solidFill>
            <a:ln w="38100" cap="flat">
              <a:solidFill>
                <a:srgbClr val="FF6A1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B1E3D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6A13"/>
              </a:solidFill>
              <a:ln w="9525" cap="flat">
                <a:solidFill>
                  <a:srgbClr val="FF6A1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</c:v>
                  </c:pt>
                  <c:pt idx="1">
                    <c:v>4</c:v>
                  </c:pt>
                  <c:pt idx="2">
                    <c:v>8</c:v>
                  </c:pt>
                  <c:pt idx="3">
                    <c:v>12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1.61</c:v>
                </c:pt>
                <c:pt idx="1">
                  <c:v>2.93</c:v>
                </c:pt>
                <c:pt idx="2">
                  <c:v>4.37</c:v>
                </c:pt>
                <c:pt idx="3">
                  <c:v>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Speedup ideal</c:v>
                </c:pt>
              </c:strCache>
            </c:strRef>
          </c:tx>
          <c:spPr>
            <a:solidFill>
              <a:srgbClr val="B9C4D6"/>
            </a:solidFill>
            <a:ln w="38100" cap="flat">
              <a:solidFill>
                <a:srgbClr val="B9C4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B1E3D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9C4D6"/>
              </a:solidFill>
              <a:ln w="9525" cap="flat">
                <a:solidFill>
                  <a:srgbClr val="B9C4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</c:v>
                  </c:pt>
                  <c:pt idx="1">
                    <c:v>4</c:v>
                  </c:pt>
                  <c:pt idx="2">
                    <c:v>8</c:v>
                  </c:pt>
                  <c:pt idx="3">
                    <c:v>12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B1E3D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3627A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3627A"/>
                    </a:solidFill>
                    <a:latin typeface="Arial"/>
                  </a:rPr>
                  <a:t>Numero de processos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362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6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362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E3D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9692640" y="-1645920"/>
            <a:ext cx="4754880" cy="4754880"/>
          </a:xfrm>
          <a:prstGeom prst="ellipse">
            <a:avLst/>
          </a:prstGeom>
          <a:solidFill>
            <a:srgbClr val="FF6A13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-1463040" y="4206240"/>
            <a:ext cx="4206240" cy="4206240"/>
          </a:xfrm>
          <a:prstGeom prst="ellipse">
            <a:avLst/>
          </a:prstGeom>
          <a:solidFill>
            <a:srgbClr val="FF6A1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822960" y="105156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45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9456"/>
                </a:solidFill>
                <a:latin typeface="Calibri"/>
                <a:ea typeface="Calibri"/>
                <a:cs typeface="Calibri"/>
                <a:sym typeface="Calibri"/>
              </a:rPr>
              <a:t>PROGRAMACAO CONCORRENTE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777240" y="1417320"/>
            <a:ext cx="96012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mbria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Contador de Palavras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822960" y="251460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CF5"/>
              </a:buClr>
              <a:buSzPts val="1700"/>
              <a:buFont typeface="Calibri"/>
              <a:buNone/>
            </a:pPr>
            <a:r>
              <a:rPr b="0" i="1" lang="en-US" sz="1700" u="none" cap="none" strike="noStrike">
                <a:solidFill>
                  <a:srgbClr val="CBDCF5"/>
                </a:solidFill>
                <a:latin typeface="Calibri"/>
                <a:ea typeface="Calibri"/>
                <a:cs typeface="Calibri"/>
                <a:sym typeface="Calibri"/>
              </a:rPr>
              <a:t>Processamento paralelo aplicado a uma base real da Wikipedia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822960" y="3337560"/>
            <a:ext cx="7863840" cy="2514600"/>
          </a:xfrm>
          <a:prstGeom prst="roundRect">
            <a:avLst>
              <a:gd fmla="val 2909" name="adj"/>
            </a:avLst>
          </a:prstGeom>
          <a:solidFill>
            <a:srgbClr val="1633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users_orange.png" id="22" name="Google Shape;2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361188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"/>
          <p:cNvSpPr/>
          <p:nvPr/>
        </p:nvSpPr>
        <p:spPr>
          <a:xfrm>
            <a:off x="1691640" y="353872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CF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BDCF5"/>
                </a:solidFill>
                <a:latin typeface="Calibri"/>
                <a:ea typeface="Calibri"/>
                <a:cs typeface="Calibri"/>
                <a:sym typeface="Calibri"/>
              </a:rPr>
              <a:t>Alunas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1691640" y="3794760"/>
            <a:ext cx="6675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Eliane de Freitas  |  Rayna Livia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" name="Google Shape;25;p1"/>
          <p:cNvCxnSpPr/>
          <p:nvPr/>
        </p:nvCxnSpPr>
        <p:spPr>
          <a:xfrm>
            <a:off x="1143000" y="4279392"/>
            <a:ext cx="7269480" cy="0"/>
          </a:xfrm>
          <a:prstGeom prst="straightConnector1">
            <a:avLst/>
          </a:prstGeom>
          <a:noFill/>
          <a:ln cap="flat" cmpd="sng" w="12700">
            <a:solidFill>
              <a:srgbClr val="2C4A7C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home/claude/icons/target_orange.png" id="26" name="Google Shape;2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443484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1"/>
          <p:cNvSpPr/>
          <p:nvPr/>
        </p:nvSpPr>
        <p:spPr>
          <a:xfrm>
            <a:off x="1691640" y="436168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CF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BDCF5"/>
                </a:solidFill>
                <a:latin typeface="Calibri"/>
                <a:ea typeface="Calibri"/>
                <a:cs typeface="Calibri"/>
                <a:sym typeface="Calibri"/>
              </a:rPr>
              <a:t>Curso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1691640" y="4617720"/>
            <a:ext cx="6675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Análise</a:t>
            </a: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e Desenvolvimento de Sistemas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" name="Google Shape;29;p1"/>
          <p:cNvCxnSpPr/>
          <p:nvPr/>
        </p:nvCxnSpPr>
        <p:spPr>
          <a:xfrm>
            <a:off x="1143000" y="5102352"/>
            <a:ext cx="7269480" cy="0"/>
          </a:xfrm>
          <a:prstGeom prst="straightConnector1">
            <a:avLst/>
          </a:prstGeom>
          <a:noFill/>
          <a:ln cap="flat" cmpd="sng" w="12700">
            <a:solidFill>
              <a:srgbClr val="2C4A7C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home/claude/icons/globe_orange.png" id="30" name="Google Shape;30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3000" y="525780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1"/>
          <p:cNvSpPr/>
          <p:nvPr/>
        </p:nvSpPr>
        <p:spPr>
          <a:xfrm>
            <a:off x="1691640" y="518464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CF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BDCF5"/>
                </a:solidFill>
                <a:latin typeface="Calibri"/>
                <a:ea typeface="Calibri"/>
                <a:cs typeface="Calibri"/>
                <a:sym typeface="Calibri"/>
              </a:rPr>
              <a:t>Professor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1691640" y="5440680"/>
            <a:ext cx="6675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Rafael Marconi Ramos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"/>
          <p:cNvSpPr/>
          <p:nvPr/>
        </p:nvSpPr>
        <p:spPr>
          <a:xfrm>
            <a:off x="731520" y="4572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A1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6A13"/>
                </a:solidFill>
                <a:latin typeface="Calibri"/>
                <a:ea typeface="Calibri"/>
                <a:cs typeface="Calibri"/>
                <a:sym typeface="Calibri"/>
              </a:rPr>
              <a:t>O projeto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731520" y="749808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E3D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B1E3D"/>
                </a:solidFill>
                <a:latin typeface="Cambria"/>
                <a:ea typeface="Cambria"/>
                <a:cs typeface="Cambria"/>
                <a:sym typeface="Cambria"/>
              </a:rPr>
              <a:t>Por que analisar palavras?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731525" y="1600200"/>
            <a:ext cx="6400800" cy="21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3627A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53627A"/>
                </a:solidFill>
                <a:latin typeface="Calibri"/>
                <a:ea typeface="Calibri"/>
                <a:cs typeface="Calibri"/>
                <a:sym typeface="Calibri"/>
              </a:rPr>
              <a:t>O crescimento exponencial de dados na internet exige ferramentas capazes de processar grandes volumes de texto com eficiencia. Este projeto desenvolve um sistema de contagem de palavras a partir de artigos da </a:t>
            </a:r>
            <a:r>
              <a:rPr lang="en-US" sz="1450">
                <a:solidFill>
                  <a:srgbClr val="53627A"/>
                </a:solidFill>
                <a:latin typeface="Calibri"/>
                <a:ea typeface="Calibri"/>
                <a:cs typeface="Calibri"/>
                <a:sym typeface="Calibri"/>
              </a:rPr>
              <a:t>Wikipédia</a:t>
            </a:r>
            <a:r>
              <a:rPr b="0" i="0" lang="en-US" sz="1450" u="none" cap="none" strike="noStrike">
                <a:solidFill>
                  <a:srgbClr val="53627A"/>
                </a:solidFill>
                <a:latin typeface="Calibri"/>
                <a:ea typeface="Calibri"/>
                <a:cs typeface="Calibri"/>
                <a:sym typeface="Calibri"/>
              </a:rPr>
              <a:t>, aplicando conceitos de processamento de dados e </a:t>
            </a:r>
            <a:r>
              <a:rPr lang="en-US" sz="1450">
                <a:solidFill>
                  <a:srgbClr val="53627A"/>
                </a:solidFill>
                <a:latin typeface="Calibri"/>
                <a:ea typeface="Calibri"/>
                <a:cs typeface="Calibri"/>
                <a:sym typeface="Calibri"/>
              </a:rPr>
              <a:t>programação</a:t>
            </a:r>
            <a:r>
              <a:rPr b="0" i="0" lang="en-US" sz="1450" u="none" cap="none" strike="noStrike">
                <a:solidFill>
                  <a:srgbClr val="53627A"/>
                </a:solidFill>
                <a:latin typeface="Calibri"/>
                <a:ea typeface="Calibri"/>
                <a:cs typeface="Calibri"/>
                <a:sym typeface="Calibri"/>
              </a:rPr>
              <a:t> paralela em um </a:t>
            </a:r>
            <a:r>
              <a:rPr lang="en-US" sz="1450">
                <a:solidFill>
                  <a:srgbClr val="53627A"/>
                </a:solidFill>
                <a:latin typeface="Calibri"/>
                <a:ea typeface="Calibri"/>
                <a:cs typeface="Calibri"/>
                <a:sym typeface="Calibri"/>
              </a:rPr>
              <a:t>cenário</a:t>
            </a:r>
            <a:r>
              <a:rPr b="0" i="0" lang="en-US" sz="1450" u="none" cap="none" strike="noStrike">
                <a:solidFill>
                  <a:srgbClr val="53627A"/>
                </a:solidFill>
                <a:latin typeface="Calibri"/>
                <a:ea typeface="Calibri"/>
                <a:cs typeface="Calibri"/>
                <a:sym typeface="Calibri"/>
              </a:rPr>
              <a:t> real.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7360920" y="1600200"/>
            <a:ext cx="4114800" cy="841248"/>
          </a:xfrm>
          <a:prstGeom prst="roundRect">
            <a:avLst>
              <a:gd fmla="val 6522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38100">
              <a:srgbClr val="0B1E3D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hartline_orange.png" id="42" name="Google Shape;4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62088" y="182880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2"/>
          <p:cNvSpPr/>
          <p:nvPr/>
        </p:nvSpPr>
        <p:spPr>
          <a:xfrm>
            <a:off x="8138160" y="171907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E3D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B1E3D"/>
                </a:solidFill>
                <a:latin typeface="Calibri"/>
                <a:ea typeface="Calibri"/>
                <a:cs typeface="Calibri"/>
                <a:sym typeface="Calibri"/>
              </a:rPr>
              <a:t>Pesquisa academica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8138160" y="2011680"/>
            <a:ext cx="3246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2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3627A"/>
                </a:solidFill>
                <a:latin typeface="Calibri"/>
                <a:ea typeface="Calibri"/>
                <a:cs typeface="Calibri"/>
                <a:sym typeface="Calibri"/>
              </a:rPr>
              <a:t>Apoia </a:t>
            </a:r>
            <a:r>
              <a:rPr lang="en-US" sz="1050">
                <a:solidFill>
                  <a:srgbClr val="53627A"/>
                </a:solidFill>
                <a:latin typeface="Calibri"/>
                <a:ea typeface="Calibri"/>
                <a:cs typeface="Calibri"/>
                <a:sym typeface="Calibri"/>
              </a:rPr>
              <a:t>análises</a:t>
            </a:r>
            <a:r>
              <a:rPr b="0" i="0" lang="en-US" sz="1050" u="none" cap="none" strike="noStrike">
                <a:solidFill>
                  <a:srgbClr val="53627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>
                <a:solidFill>
                  <a:srgbClr val="53627A"/>
                </a:solidFill>
                <a:latin typeface="Calibri"/>
                <a:ea typeface="Calibri"/>
                <a:cs typeface="Calibri"/>
                <a:sym typeface="Calibri"/>
              </a:rPr>
              <a:t>linguísticas</a:t>
            </a:r>
            <a:r>
              <a:rPr b="0" i="0" lang="en-US" sz="1050" u="none" cap="none" strike="noStrike">
                <a:solidFill>
                  <a:srgbClr val="53627A"/>
                </a:solidFill>
                <a:latin typeface="Calibri"/>
                <a:ea typeface="Calibri"/>
                <a:cs typeface="Calibri"/>
                <a:sym typeface="Calibri"/>
              </a:rPr>
              <a:t> e estudos em larga escala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7360920" y="2560320"/>
            <a:ext cx="4114800" cy="841248"/>
          </a:xfrm>
          <a:prstGeom prst="roundRect">
            <a:avLst>
              <a:gd fmla="val 6522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38100">
              <a:srgbClr val="0B1E3D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globe_orange.png" id="46" name="Google Shape;4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62088" y="278892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2"/>
          <p:cNvSpPr/>
          <p:nvPr/>
        </p:nvSpPr>
        <p:spPr>
          <a:xfrm>
            <a:off x="8138160" y="267919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E3D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B1E3D"/>
                </a:solidFill>
                <a:latin typeface="Calibri"/>
                <a:ea typeface="Calibri"/>
                <a:cs typeface="Calibri"/>
                <a:sym typeface="Calibri"/>
              </a:rPr>
              <a:t>Sistemas de busca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8138160" y="2971800"/>
            <a:ext cx="3246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2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3627A"/>
                </a:solidFill>
                <a:latin typeface="Calibri"/>
                <a:ea typeface="Calibri"/>
                <a:cs typeface="Calibri"/>
                <a:sym typeface="Calibri"/>
              </a:rPr>
              <a:t>Melhora </a:t>
            </a:r>
            <a:r>
              <a:rPr lang="en-US" sz="1050">
                <a:solidFill>
                  <a:srgbClr val="53627A"/>
                </a:solidFill>
                <a:latin typeface="Calibri"/>
                <a:ea typeface="Calibri"/>
                <a:cs typeface="Calibri"/>
                <a:sym typeface="Calibri"/>
              </a:rPr>
              <a:t>indexação</a:t>
            </a:r>
            <a:r>
              <a:rPr b="0" i="0" lang="en-US" sz="1050" u="none" cap="none" strike="noStrike">
                <a:solidFill>
                  <a:srgbClr val="53627A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US" sz="1050">
                <a:solidFill>
                  <a:srgbClr val="53627A"/>
                </a:solidFill>
                <a:latin typeface="Calibri"/>
                <a:ea typeface="Calibri"/>
                <a:cs typeface="Calibri"/>
                <a:sym typeface="Calibri"/>
              </a:rPr>
              <a:t>recuperação</a:t>
            </a:r>
            <a:r>
              <a:rPr b="0" i="0" lang="en-US" sz="1050" u="none" cap="none" strike="noStrike">
                <a:solidFill>
                  <a:srgbClr val="53627A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050">
                <a:solidFill>
                  <a:srgbClr val="53627A"/>
                </a:solidFill>
                <a:latin typeface="Calibri"/>
                <a:ea typeface="Calibri"/>
                <a:cs typeface="Calibri"/>
                <a:sym typeface="Calibri"/>
              </a:rPr>
              <a:t>informação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7360920" y="3520440"/>
            <a:ext cx="4114800" cy="841248"/>
          </a:xfrm>
          <a:prstGeom prst="roundRect">
            <a:avLst>
              <a:gd fmla="val 6522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38100">
              <a:srgbClr val="0B1E3D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bolt_orange.png" id="50" name="Google Shape;50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62088" y="374904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2"/>
          <p:cNvSpPr/>
          <p:nvPr/>
        </p:nvSpPr>
        <p:spPr>
          <a:xfrm>
            <a:off x="8138160" y="363931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E3D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B1E3D"/>
                </a:solidFill>
                <a:latin typeface="Calibri"/>
                <a:ea typeface="Calibri"/>
                <a:cs typeface="Calibri"/>
                <a:sym typeface="Calibri"/>
              </a:rPr>
              <a:t>Inteligencia artificial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8138160" y="3931920"/>
            <a:ext cx="3246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27A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3627A"/>
                </a:solidFill>
                <a:latin typeface="Calibri"/>
                <a:ea typeface="Calibri"/>
                <a:cs typeface="Calibri"/>
                <a:sym typeface="Calibri"/>
              </a:rPr>
              <a:t>Dá</a:t>
            </a:r>
            <a:r>
              <a:rPr b="0" i="0" lang="en-US" sz="1050" u="none" cap="none" strike="noStrike">
                <a:solidFill>
                  <a:srgbClr val="53627A"/>
                </a:solidFill>
                <a:latin typeface="Calibri"/>
                <a:ea typeface="Calibri"/>
                <a:cs typeface="Calibri"/>
                <a:sym typeface="Calibri"/>
              </a:rPr>
              <a:t> suporte a modelos de processamento de linguagem natural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731520" y="4526280"/>
            <a:ext cx="10744200" cy="1417320"/>
          </a:xfrm>
          <a:prstGeom prst="roundRect">
            <a:avLst>
              <a:gd fmla="val 5161" name="adj"/>
            </a:avLst>
          </a:prstGeom>
          <a:solidFill>
            <a:srgbClr val="0B1E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1051560" y="473659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45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9456"/>
                </a:solidFill>
                <a:latin typeface="Calibri"/>
                <a:ea typeface="Calibri"/>
                <a:cs typeface="Calibri"/>
                <a:sym typeface="Calibri"/>
              </a:rPr>
              <a:t>Objetivo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1051560" y="5029200"/>
            <a:ext cx="10104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Desenvolver e comparar duas </a:t>
            </a:r>
            <a:r>
              <a:rPr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versões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de um contador de palavras (serial e paralela), avaliando ganhos reais de desempenho ao processar mais de meio </a:t>
            </a:r>
            <a:r>
              <a:rPr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bilhão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de palavras de uma base de 13 GB.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"/>
          <p:cNvSpPr/>
          <p:nvPr/>
        </p:nvSpPr>
        <p:spPr>
          <a:xfrm>
            <a:off x="731520" y="4572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A1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6A13"/>
                </a:solidFill>
                <a:latin typeface="Calibri"/>
                <a:ea typeface="Calibri"/>
                <a:cs typeface="Calibri"/>
                <a:sym typeface="Calibri"/>
              </a:rPr>
              <a:t>Resultados experimentais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731520" y="749808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E3D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B1E3D"/>
                </a:solidFill>
                <a:latin typeface="Cambria"/>
                <a:ea typeface="Cambria"/>
                <a:cs typeface="Cambria"/>
                <a:sym typeface="Cambria"/>
              </a:rPr>
              <a:t>Versao serial vs. versao paralela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731520" y="1600200"/>
            <a:ext cx="10744200" cy="868680"/>
          </a:xfrm>
          <a:prstGeom prst="roundRect">
            <a:avLst>
              <a:gd fmla="val 7368" name="adj"/>
            </a:avLst>
          </a:prstGeom>
          <a:solidFill>
            <a:srgbClr val="1633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731520" y="1691640"/>
            <a:ext cx="3581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456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9456"/>
                </a:solidFill>
                <a:latin typeface="Calibri"/>
                <a:ea typeface="Calibri"/>
                <a:cs typeface="Calibri"/>
                <a:sym typeface="Calibri"/>
              </a:rPr>
              <a:t>1.000.000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731520" y="2121408"/>
            <a:ext cx="3581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CF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CF5"/>
                </a:solidFill>
                <a:latin typeface="Calibri"/>
                <a:ea typeface="Calibri"/>
                <a:cs typeface="Calibri"/>
                <a:sym typeface="Calibri"/>
              </a:rPr>
              <a:t>artigos processados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4312920" y="1691640"/>
            <a:ext cx="3581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456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9456"/>
                </a:solidFill>
                <a:latin typeface="Calibri"/>
                <a:ea typeface="Calibri"/>
                <a:cs typeface="Calibri"/>
                <a:sym typeface="Calibri"/>
              </a:rPr>
              <a:t>525.310.204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4312920" y="2121408"/>
            <a:ext cx="3581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CF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CF5"/>
                </a:solidFill>
                <a:latin typeface="Calibri"/>
                <a:ea typeface="Calibri"/>
                <a:cs typeface="Calibri"/>
                <a:sym typeface="Calibri"/>
              </a:rPr>
              <a:t>palavras contadas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7894320" y="1691640"/>
            <a:ext cx="3581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456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9456"/>
                </a:solidFill>
                <a:latin typeface="Calibri"/>
                <a:ea typeface="Calibri"/>
                <a:cs typeface="Calibri"/>
                <a:sym typeface="Calibri"/>
              </a:rPr>
              <a:t>13 GB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7894320" y="2121408"/>
            <a:ext cx="3581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CF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CF5"/>
                </a:solidFill>
                <a:latin typeface="Calibri"/>
                <a:ea typeface="Calibri"/>
                <a:cs typeface="Calibri"/>
                <a:sym typeface="Calibri"/>
              </a:rPr>
              <a:t>base original (12,5M artigos)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731520" y="2743200"/>
            <a:ext cx="5212080" cy="3246120"/>
          </a:xfrm>
          <a:prstGeom prst="roundRect">
            <a:avLst>
              <a:gd fmla="val 2254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38100">
              <a:srgbClr val="0B1E3D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server_orange.png" id="71" name="Google Shape;7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" y="29718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3"/>
          <p:cNvSpPr/>
          <p:nvPr/>
        </p:nvSpPr>
        <p:spPr>
          <a:xfrm>
            <a:off x="1508760" y="299923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E3D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0B1E3D"/>
                </a:solidFill>
                <a:latin typeface="Calibri"/>
                <a:ea typeface="Calibri"/>
                <a:cs typeface="Calibri"/>
                <a:sym typeface="Calibri"/>
              </a:rPr>
              <a:t>Versao serial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1005840" y="3611880"/>
            <a:ext cx="4572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E3D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0B1E3D"/>
                </a:solidFill>
                <a:latin typeface="Cambria"/>
                <a:ea typeface="Cambria"/>
                <a:cs typeface="Cambria"/>
                <a:sym typeface="Cambria"/>
              </a:rPr>
              <a:t>349,22 s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1051560" y="437083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2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tempo total de 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execução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(1 processo)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" name="Google Shape;75;p3"/>
          <p:cNvCxnSpPr/>
          <p:nvPr/>
        </p:nvCxnSpPr>
        <p:spPr>
          <a:xfrm>
            <a:off x="1005840" y="4754880"/>
            <a:ext cx="4663440" cy="0"/>
          </a:xfrm>
          <a:prstGeom prst="straightConnector1">
            <a:avLst/>
          </a:prstGeom>
          <a:noFill/>
          <a:ln cap="flat" cmpd="sng" w="12700">
            <a:solidFill>
              <a:srgbClr val="E2E6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" name="Google Shape;76;p3"/>
          <p:cNvSpPr/>
          <p:nvPr/>
        </p:nvSpPr>
        <p:spPr>
          <a:xfrm>
            <a:off x="1005840" y="4937760"/>
            <a:ext cx="4617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3627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Processa toda a base sequencialmente, palavra por palavra, em um </a:t>
            </a:r>
            <a:r>
              <a:rPr lang="en-US" sz="12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único</a:t>
            </a: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núcleo</a:t>
            </a: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do processador.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6217920" y="2743200"/>
            <a:ext cx="5257800" cy="3246120"/>
          </a:xfrm>
          <a:prstGeom prst="roundRect">
            <a:avLst>
              <a:gd fmla="val 2254" name="adj"/>
            </a:avLst>
          </a:prstGeom>
          <a:solidFill>
            <a:srgbClr val="0B1E3D"/>
          </a:solidFill>
          <a:ln>
            <a:noFill/>
          </a:ln>
          <a:effectLst>
            <a:outerShdw blurRad="101600" rotWithShape="0" algn="bl" dir="2700000" dist="38100">
              <a:srgbClr val="0B1E3D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hip_orange.png" id="78" name="Google Shape;7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92240" y="29718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3"/>
          <p:cNvSpPr/>
          <p:nvPr/>
        </p:nvSpPr>
        <p:spPr>
          <a:xfrm>
            <a:off x="6995160" y="299923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Versao paralela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6492240" y="352044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CF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BDCF5"/>
                </a:solidFill>
                <a:latin typeface="Calibri"/>
                <a:ea typeface="Calibri"/>
                <a:cs typeface="Calibri"/>
                <a:sym typeface="Calibri"/>
              </a:rPr>
              <a:t>2 processos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8961120" y="352044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216,98 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" name="Google Shape;82;p3"/>
          <p:cNvCxnSpPr/>
          <p:nvPr/>
        </p:nvCxnSpPr>
        <p:spPr>
          <a:xfrm>
            <a:off x="6492240" y="3904488"/>
            <a:ext cx="4800600" cy="0"/>
          </a:xfrm>
          <a:prstGeom prst="straightConnector1">
            <a:avLst/>
          </a:prstGeom>
          <a:noFill/>
          <a:ln cap="flat" cmpd="sng" w="12700">
            <a:solidFill>
              <a:srgbClr val="203A6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" name="Google Shape;83;p3"/>
          <p:cNvSpPr/>
          <p:nvPr/>
        </p:nvSpPr>
        <p:spPr>
          <a:xfrm>
            <a:off x="6492240" y="3995928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CF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BDCF5"/>
                </a:solidFill>
                <a:latin typeface="Calibri"/>
                <a:ea typeface="Calibri"/>
                <a:cs typeface="Calibri"/>
                <a:sym typeface="Calibri"/>
              </a:rPr>
              <a:t>4 processos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8961120" y="3995928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119,25 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" name="Google Shape;85;p3"/>
          <p:cNvCxnSpPr/>
          <p:nvPr/>
        </p:nvCxnSpPr>
        <p:spPr>
          <a:xfrm>
            <a:off x="6492240" y="4379976"/>
            <a:ext cx="4800600" cy="0"/>
          </a:xfrm>
          <a:prstGeom prst="straightConnector1">
            <a:avLst/>
          </a:prstGeom>
          <a:noFill/>
          <a:ln cap="flat" cmpd="sng" w="12700">
            <a:solidFill>
              <a:srgbClr val="203A6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3"/>
          <p:cNvSpPr/>
          <p:nvPr/>
        </p:nvSpPr>
        <p:spPr>
          <a:xfrm>
            <a:off x="6492240" y="4471416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CF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BDCF5"/>
                </a:solidFill>
                <a:latin typeface="Calibri"/>
                <a:ea typeface="Calibri"/>
                <a:cs typeface="Calibri"/>
                <a:sym typeface="Calibri"/>
              </a:rPr>
              <a:t>8 processos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8961120" y="4471416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79,97 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" name="Google Shape;88;p3"/>
          <p:cNvCxnSpPr/>
          <p:nvPr/>
        </p:nvCxnSpPr>
        <p:spPr>
          <a:xfrm>
            <a:off x="6492240" y="4855464"/>
            <a:ext cx="4800600" cy="0"/>
          </a:xfrm>
          <a:prstGeom prst="straightConnector1">
            <a:avLst/>
          </a:prstGeom>
          <a:noFill/>
          <a:ln cap="flat" cmpd="sng" w="12700">
            <a:solidFill>
              <a:srgbClr val="203A6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3"/>
          <p:cNvSpPr/>
          <p:nvPr/>
        </p:nvSpPr>
        <p:spPr>
          <a:xfrm>
            <a:off x="6492240" y="4946904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CF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BDCF5"/>
                </a:solidFill>
                <a:latin typeface="Calibri"/>
                <a:ea typeface="Calibri"/>
                <a:cs typeface="Calibri"/>
                <a:sym typeface="Calibri"/>
              </a:rPr>
              <a:t>12 processos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8961120" y="4946904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9456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9456"/>
                </a:solidFill>
                <a:latin typeface="Calibri"/>
                <a:ea typeface="Calibri"/>
                <a:cs typeface="Calibri"/>
                <a:sym typeface="Calibri"/>
              </a:rPr>
              <a:t>69,86 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6492240" y="5468112"/>
            <a:ext cx="480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456"/>
              </a:buClr>
              <a:buSzPts val="1150"/>
              <a:buFont typeface="Calibri"/>
              <a:buNone/>
            </a:pPr>
            <a:r>
              <a:rPr b="0" lang="en-US" sz="1150" u="none" cap="none" strike="noStrike">
                <a:solidFill>
                  <a:srgbClr val="FF9456"/>
                </a:solidFill>
                <a:latin typeface="Calibri"/>
                <a:ea typeface="Calibri"/>
                <a:cs typeface="Calibri"/>
                <a:sym typeface="Calibri"/>
              </a:rPr>
              <a:t>Melhor tempo: 12 processos, com </a:t>
            </a:r>
            <a:r>
              <a:rPr lang="en-US" sz="1150">
                <a:solidFill>
                  <a:srgbClr val="FF9456"/>
                </a:solidFill>
                <a:latin typeface="Calibri"/>
                <a:ea typeface="Calibri"/>
                <a:cs typeface="Calibri"/>
                <a:sym typeface="Calibri"/>
              </a:rPr>
              <a:t>redução</a:t>
            </a:r>
            <a:r>
              <a:rPr b="0" lang="en-US" sz="1150" u="none" cap="none" strike="noStrike">
                <a:solidFill>
                  <a:srgbClr val="FF9456"/>
                </a:solidFill>
                <a:latin typeface="Calibri"/>
                <a:ea typeface="Calibri"/>
                <a:cs typeface="Calibri"/>
                <a:sym typeface="Calibri"/>
              </a:rPr>
              <a:t> de quase 80% em </a:t>
            </a:r>
            <a:r>
              <a:rPr lang="en-US" sz="1150">
                <a:solidFill>
                  <a:srgbClr val="FF9456"/>
                </a:solidFill>
                <a:latin typeface="Calibri"/>
                <a:ea typeface="Calibri"/>
                <a:cs typeface="Calibri"/>
                <a:sym typeface="Calibri"/>
              </a:rPr>
              <a:t>relação</a:t>
            </a:r>
            <a:r>
              <a:rPr b="0" lang="en-US" sz="1150" u="none" cap="none" strike="noStrike">
                <a:solidFill>
                  <a:srgbClr val="FF9456"/>
                </a:solidFill>
                <a:latin typeface="Calibri"/>
                <a:ea typeface="Calibri"/>
                <a:cs typeface="Calibri"/>
                <a:sym typeface="Calibri"/>
              </a:rPr>
              <a:t> ao serial.</a:t>
            </a:r>
            <a:endParaRPr b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"/>
          <p:cNvSpPr/>
          <p:nvPr/>
        </p:nvSpPr>
        <p:spPr>
          <a:xfrm>
            <a:off x="731520" y="4114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A1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6A13"/>
                </a:solidFill>
                <a:latin typeface="Calibri"/>
                <a:ea typeface="Calibri"/>
                <a:cs typeface="Calibri"/>
                <a:sym typeface="Calibri"/>
              </a:rPr>
              <a:t>Analise de desempenho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731520" y="704088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E3D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B1E3D"/>
                </a:solidFill>
                <a:latin typeface="Cambria"/>
                <a:ea typeface="Cambria"/>
                <a:cs typeface="Cambria"/>
                <a:sym typeface="Cambria"/>
              </a:rPr>
              <a:t>Speedup e eficiencia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731520" y="1417320"/>
            <a:ext cx="5120640" cy="777240"/>
          </a:xfrm>
          <a:prstGeom prst="roundRect">
            <a:avLst>
              <a:gd fmla="val 7059" name="adj"/>
            </a:avLst>
          </a:prstGeom>
          <a:solidFill>
            <a:srgbClr val="1633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914400" y="1417320"/>
            <a:ext cx="4754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Speedup = Tempo serial / Tempo paralelo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5989320" y="1417320"/>
            <a:ext cx="5440680" cy="777240"/>
          </a:xfrm>
          <a:prstGeom prst="roundRect">
            <a:avLst>
              <a:gd fmla="val 7059" name="adj"/>
            </a:avLst>
          </a:prstGeom>
          <a:solidFill>
            <a:srgbClr val="1633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6172200" y="1417320"/>
            <a:ext cx="5120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Eficiencia = Speedup / Numero de processos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3" name="Google Shape;103;p4"/>
          <p:cNvGraphicFramePr/>
          <p:nvPr/>
        </p:nvGraphicFramePr>
        <p:xfrm>
          <a:off x="731520" y="2423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{0023D61F-9B25-46F5-9401-E308C6E56F34}</a:tableStyleId>
              </a:tblPr>
              <a:tblGrid>
                <a:gridCol w="1737350"/>
                <a:gridCol w="1188725"/>
                <a:gridCol w="1143000"/>
                <a:gridCol w="11430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Configuracao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Tempo (s)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Speedup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Eficiencia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E3D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E3D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B1E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Serial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E3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B1E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349,22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E3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B1E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1,00x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E3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B1E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100,0%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E3D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B1E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 processos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E3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B1E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216,98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E3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B1E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1,61x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E3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B1E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80,5%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E3D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B1E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 processos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E3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B1E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119,25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E3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B1E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2,93x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E3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B1E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73,3%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E3D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B1E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 processos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E3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B1E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79,97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E3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B1E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4,37x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E3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B1E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54,6%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23E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B23E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 processos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3D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23E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B23E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69,86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3D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23E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B23E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5,00x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3D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23E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B23E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41,7%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3D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4" name="Google Shape;104;p4"/>
          <p:cNvGraphicFramePr/>
          <p:nvPr/>
        </p:nvGraphicFramePr>
        <p:xfrm>
          <a:off x="6080760" y="2331720"/>
          <a:ext cx="5394960" cy="27432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05" name="Google Shape;105;p4"/>
          <p:cNvSpPr/>
          <p:nvPr/>
        </p:nvSpPr>
        <p:spPr>
          <a:xfrm>
            <a:off x="731520" y="5166360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27A"/>
              </a:buClr>
              <a:buSzPts val="1200"/>
              <a:buFont typeface="Calibri"/>
              <a:buNone/>
            </a:pPr>
            <a:r>
              <a:rPr b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distância</a:t>
            </a:r>
            <a:r>
              <a:rPr b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crescente entre as curvas mostra a queda de eficiencia prevista pela Lei de Amdahl.</a:t>
            </a:r>
            <a:endParaRPr b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/>
          <p:nvPr/>
        </p:nvSpPr>
        <p:spPr>
          <a:xfrm>
            <a:off x="731520" y="4572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A1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6A13"/>
                </a:solidFill>
                <a:latin typeface="Calibri"/>
                <a:ea typeface="Calibri"/>
                <a:cs typeface="Calibri"/>
                <a:sym typeface="Calibri"/>
              </a:rPr>
              <a:t>Discussao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731520" y="749808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E3D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B1E3D"/>
                </a:solidFill>
                <a:latin typeface="Cambria"/>
                <a:ea typeface="Cambria"/>
                <a:cs typeface="Cambria"/>
                <a:sym typeface="Cambria"/>
              </a:rPr>
              <a:t>Por que o ganho </a:t>
            </a:r>
            <a:r>
              <a:rPr b="1" lang="en-US" sz="3000">
                <a:solidFill>
                  <a:srgbClr val="0B1E3D"/>
                </a:solidFill>
                <a:latin typeface="Cambria"/>
                <a:ea typeface="Cambria"/>
                <a:cs typeface="Cambria"/>
                <a:sym typeface="Cambria"/>
              </a:rPr>
              <a:t>não</a:t>
            </a:r>
            <a:r>
              <a:rPr b="1" i="0" lang="en-US" sz="3000" u="none" cap="none" strike="noStrike">
                <a:solidFill>
                  <a:srgbClr val="0B1E3D"/>
                </a:solidFill>
                <a:latin typeface="Cambria"/>
                <a:ea typeface="Cambria"/>
                <a:cs typeface="Cambria"/>
                <a:sym typeface="Cambria"/>
              </a:rPr>
              <a:t> foi ideal?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731520" y="1691640"/>
            <a:ext cx="5212080" cy="4206240"/>
          </a:xfrm>
          <a:prstGeom prst="roundRect">
            <a:avLst>
              <a:gd fmla="val 1739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38100">
              <a:srgbClr val="0B1E3D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warning_orange.png" id="114" name="Google Shape;11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" y="19202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5"/>
          <p:cNvSpPr/>
          <p:nvPr/>
        </p:nvSpPr>
        <p:spPr>
          <a:xfrm>
            <a:off x="1554480" y="1920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A1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6A13"/>
                </a:solidFill>
                <a:latin typeface="Calibri"/>
                <a:ea typeface="Calibri"/>
                <a:cs typeface="Calibri"/>
                <a:sym typeface="Calibri"/>
              </a:rPr>
              <a:t>Motivo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1554480" y="2176272"/>
            <a:ext cx="4160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E3D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B1E3D"/>
                </a:solidFill>
                <a:latin typeface="Calibri"/>
                <a:ea typeface="Calibri"/>
                <a:cs typeface="Calibri"/>
                <a:sym typeface="Calibri"/>
              </a:rPr>
              <a:t>Overhead do multiprocessing no Windows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1028750" y="3383277"/>
            <a:ext cx="4617600" cy="15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B1E3D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0B1E3D"/>
                </a:solidFill>
                <a:latin typeface="Calibri"/>
                <a:ea typeface="Calibri"/>
                <a:cs typeface="Calibri"/>
                <a:sym typeface="Calibri"/>
              </a:rPr>
              <a:t>Criação</a:t>
            </a:r>
            <a:r>
              <a:rPr b="0" lang="en-US" sz="1300" u="none" cap="none" strike="noStrike">
                <a:solidFill>
                  <a:srgbClr val="0B1E3D"/>
                </a:solidFill>
                <a:latin typeface="Calibri"/>
                <a:ea typeface="Calibri"/>
                <a:cs typeface="Calibri"/>
                <a:sym typeface="Calibri"/>
              </a:rPr>
              <a:t> dos processos pelo </a:t>
            </a:r>
            <a:r>
              <a:rPr lang="en-US" sz="1300">
                <a:solidFill>
                  <a:srgbClr val="0B1E3D"/>
                </a:solidFill>
                <a:latin typeface="Calibri"/>
                <a:ea typeface="Calibri"/>
                <a:cs typeface="Calibri"/>
                <a:sym typeface="Calibri"/>
              </a:rPr>
              <a:t>método</a:t>
            </a:r>
            <a:r>
              <a:rPr b="0" lang="en-US" sz="1300" u="none" cap="none" strike="noStrike">
                <a:solidFill>
                  <a:srgbClr val="0B1E3D"/>
                </a:solidFill>
                <a:latin typeface="Calibri"/>
                <a:ea typeface="Calibri"/>
                <a:cs typeface="Calibri"/>
                <a:sym typeface="Calibri"/>
              </a:rPr>
              <a:t> spawn</a:t>
            </a:r>
            <a:endParaRPr b="0" sz="1300" u="none" cap="none" strike="noStrike">
              <a:solidFill>
                <a:srgbClr val="0B1E3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B1E3D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0B1E3D"/>
                </a:solidFill>
                <a:latin typeface="Calibri"/>
                <a:ea typeface="Calibri"/>
                <a:cs typeface="Calibri"/>
                <a:sym typeface="Calibri"/>
              </a:rPr>
              <a:t>Carregamento</a:t>
            </a:r>
            <a:r>
              <a:rPr b="0" lang="en-US" sz="1300" u="none" cap="none" strike="noStrike">
                <a:solidFill>
                  <a:srgbClr val="0B1E3D"/>
                </a:solidFill>
                <a:latin typeface="Calibri"/>
                <a:ea typeface="Calibri"/>
                <a:cs typeface="Calibri"/>
                <a:sym typeface="Calibri"/>
              </a:rPr>
              <a:t> do interpretador Python</a:t>
            </a:r>
            <a:endParaRPr b="0" sz="1300" u="none" cap="none" strike="noStrike">
              <a:solidFill>
                <a:srgbClr val="0B1E3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B1E3D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0B1E3D"/>
                </a:solidFill>
                <a:latin typeface="Calibri"/>
                <a:ea typeface="Calibri"/>
                <a:cs typeface="Calibri"/>
                <a:sym typeface="Calibri"/>
              </a:rPr>
              <a:t>Serializar</a:t>
            </a:r>
            <a:r>
              <a:rPr b="0" lang="en-US" sz="1300" u="none" cap="none" strike="noStrike">
                <a:solidFill>
                  <a:srgbClr val="0B1E3D"/>
                </a:solidFill>
                <a:latin typeface="Calibri"/>
                <a:ea typeface="Calibri"/>
                <a:cs typeface="Calibri"/>
                <a:sym typeface="Calibri"/>
              </a:rPr>
              <a:t> (pickle) dos dados enviados</a:t>
            </a:r>
            <a:endParaRPr b="0" sz="1300" u="none" cap="none" strike="noStrike">
              <a:solidFill>
                <a:srgbClr val="0B1E3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B1E3D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0B1E3D"/>
                </a:solidFill>
                <a:latin typeface="Calibri"/>
                <a:ea typeface="Calibri"/>
                <a:cs typeface="Calibri"/>
                <a:sym typeface="Calibri"/>
              </a:rPr>
              <a:t>Desserialização</a:t>
            </a:r>
            <a:r>
              <a:rPr b="0" lang="en-US" sz="1300" u="none" cap="none" strike="noStrike">
                <a:solidFill>
                  <a:srgbClr val="0B1E3D"/>
                </a:solidFill>
                <a:latin typeface="Calibri"/>
                <a:ea typeface="Calibri"/>
                <a:cs typeface="Calibri"/>
                <a:sym typeface="Calibri"/>
              </a:rPr>
              <a:t> dos resultados recebidos</a:t>
            </a:r>
            <a:endParaRPr b="0" sz="1300" u="none" cap="none" strike="noStrike">
              <a:solidFill>
                <a:srgbClr val="0B1E3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B1E3D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0B1E3D"/>
                </a:solidFill>
                <a:latin typeface="Calibri"/>
                <a:ea typeface="Calibri"/>
                <a:cs typeface="Calibri"/>
                <a:sym typeface="Calibri"/>
              </a:rPr>
              <a:t>Combinação</a:t>
            </a:r>
            <a:r>
              <a:rPr b="0" lang="en-US" sz="1300" u="none" cap="none" strike="noStrike">
                <a:solidFill>
                  <a:srgbClr val="0B1E3D"/>
                </a:solidFill>
                <a:latin typeface="Calibri"/>
                <a:ea typeface="Calibri"/>
                <a:cs typeface="Calibri"/>
                <a:sym typeface="Calibri"/>
              </a:rPr>
              <a:t> final dos contadores de palavras</a:t>
            </a:r>
            <a:endParaRPr b="0" sz="1300" u="none" cap="none" strike="noStrike">
              <a:solidFill>
                <a:srgbClr val="0B1E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8" name="Google Shape;118;p5"/>
          <p:cNvCxnSpPr/>
          <p:nvPr/>
        </p:nvCxnSpPr>
        <p:spPr>
          <a:xfrm>
            <a:off x="1005828" y="5074915"/>
            <a:ext cx="4663500" cy="0"/>
          </a:xfrm>
          <a:prstGeom prst="straightConnector1">
            <a:avLst/>
          </a:prstGeom>
          <a:noFill/>
          <a:ln cap="flat" cmpd="sng" w="12700">
            <a:solidFill>
              <a:srgbClr val="E2E6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" name="Google Shape;119;p5"/>
          <p:cNvSpPr/>
          <p:nvPr/>
        </p:nvSpPr>
        <p:spPr>
          <a:xfrm>
            <a:off x="1005850" y="5074925"/>
            <a:ext cx="4873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627A"/>
              </a:buClr>
              <a:buSzPts val="1200"/>
              <a:buFont typeface="Calibri"/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Esses custos pesam proporcionalmente mais quando 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há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poucos processos.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6263640" y="1691640"/>
            <a:ext cx="5212080" cy="4206240"/>
          </a:xfrm>
          <a:prstGeom prst="roundRect">
            <a:avLst>
              <a:gd fmla="val 1739" name="adj"/>
            </a:avLst>
          </a:prstGeom>
          <a:solidFill>
            <a:srgbClr val="0B1E3D"/>
          </a:solidFill>
          <a:ln>
            <a:noFill/>
          </a:ln>
          <a:effectLst>
            <a:outerShdw blurRad="101600" rotWithShape="0" algn="bl" dir="2700000" dist="38100">
              <a:srgbClr val="0B1E3D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hartline_orange.png" id="121" name="Google Shape;12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37960" y="19202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5"/>
          <p:cNvSpPr/>
          <p:nvPr/>
        </p:nvSpPr>
        <p:spPr>
          <a:xfrm>
            <a:off x="7086600" y="1920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45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9456"/>
                </a:solidFill>
                <a:latin typeface="Calibri"/>
                <a:ea typeface="Calibri"/>
                <a:cs typeface="Calibri"/>
                <a:sym typeface="Calibri"/>
              </a:rPr>
              <a:t>Motivo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7086600" y="2176272"/>
            <a:ext cx="4160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Lei de Amdahl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6537960" y="2788920"/>
            <a:ext cx="4663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BDCF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BDCF5"/>
                </a:solidFill>
                <a:latin typeface="Calibri"/>
                <a:ea typeface="Calibri"/>
                <a:cs typeface="Calibri"/>
                <a:sym typeface="Calibri"/>
              </a:rPr>
              <a:t>O ganho </a:t>
            </a:r>
            <a:r>
              <a:rPr lang="en-US" sz="1300">
                <a:solidFill>
                  <a:srgbClr val="CBDCF5"/>
                </a:solidFill>
                <a:latin typeface="Calibri"/>
                <a:ea typeface="Calibri"/>
                <a:cs typeface="Calibri"/>
                <a:sym typeface="Calibri"/>
              </a:rPr>
              <a:t>máximo</a:t>
            </a:r>
            <a:r>
              <a:rPr b="0" i="0" lang="en-US" sz="1300" u="none" cap="none" strike="noStrike">
                <a:solidFill>
                  <a:srgbClr val="CBDCF5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300">
                <a:solidFill>
                  <a:srgbClr val="CBDCF5"/>
                </a:solidFill>
                <a:latin typeface="Calibri"/>
                <a:ea typeface="Calibri"/>
                <a:cs typeface="Calibri"/>
                <a:sym typeface="Calibri"/>
              </a:rPr>
              <a:t>paralelização</a:t>
            </a:r>
            <a:r>
              <a:rPr b="0" i="0" lang="en-US" sz="1300" u="none" cap="none" strike="noStrike">
                <a:solidFill>
                  <a:srgbClr val="CBDCF5"/>
                </a:solidFill>
                <a:latin typeface="Calibri"/>
                <a:ea typeface="Calibri"/>
                <a:cs typeface="Calibri"/>
                <a:sym typeface="Calibri"/>
              </a:rPr>
              <a:t> e limitado pelas partes do programa que permanecem sequenciais, independente do n</a:t>
            </a:r>
            <a:r>
              <a:rPr lang="en-US" sz="1300">
                <a:solidFill>
                  <a:srgbClr val="CBDCF5"/>
                </a:solidFill>
                <a:latin typeface="Calibri"/>
                <a:ea typeface="Calibri"/>
                <a:cs typeface="Calibri"/>
                <a:sym typeface="Calibri"/>
              </a:rPr>
              <a:t>ú</a:t>
            </a:r>
            <a:r>
              <a:rPr b="0" i="0" lang="en-US" sz="1300" u="none" cap="none" strike="noStrike">
                <a:solidFill>
                  <a:srgbClr val="CBDCF5"/>
                </a:solidFill>
                <a:latin typeface="Calibri"/>
                <a:ea typeface="Calibri"/>
                <a:cs typeface="Calibri"/>
                <a:sym typeface="Calibri"/>
              </a:rPr>
              <a:t>mero de processos.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6537960" y="3611880"/>
            <a:ext cx="46634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Leitura do arquivo Parquet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Distribuição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dos blocos de dados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Serialização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transferência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informações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Agregação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dos resultados finais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" name="Google Shape;126;p5"/>
          <p:cNvCxnSpPr/>
          <p:nvPr/>
        </p:nvCxnSpPr>
        <p:spPr>
          <a:xfrm>
            <a:off x="6537960" y="5074920"/>
            <a:ext cx="4663440" cy="0"/>
          </a:xfrm>
          <a:prstGeom prst="straightConnector1">
            <a:avLst/>
          </a:prstGeom>
          <a:noFill/>
          <a:ln cap="flat" cmpd="sng" w="12700">
            <a:solidFill>
              <a:srgbClr val="203A6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7" name="Google Shape;127;p5"/>
          <p:cNvSpPr/>
          <p:nvPr/>
        </p:nvSpPr>
        <p:spPr>
          <a:xfrm>
            <a:off x="6537960" y="5212080"/>
            <a:ext cx="4663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9456"/>
              </a:buClr>
              <a:buSzPts val="1200"/>
              <a:buFont typeface="Calibri"/>
              <a:buNone/>
            </a:pPr>
            <a:r>
              <a:rPr b="0" lang="en-US" sz="1200" u="none" cap="none" strike="noStrike">
                <a:solidFill>
                  <a:srgbClr val="FF9456"/>
                </a:solidFill>
                <a:latin typeface="Calibri"/>
                <a:ea typeface="Calibri"/>
                <a:cs typeface="Calibri"/>
                <a:sym typeface="Calibri"/>
              </a:rPr>
              <a:t>Quanto mais processos, maior a fatia de tempo consumida por essas etapas sequenciais.</a:t>
            </a:r>
            <a:endParaRPr b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 txBox="1"/>
          <p:nvPr/>
        </p:nvSpPr>
        <p:spPr>
          <a:xfrm>
            <a:off x="880475" y="2641450"/>
            <a:ext cx="476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alibri"/>
                <a:ea typeface="Calibri"/>
                <a:cs typeface="Calibri"/>
                <a:sym typeface="Calibri"/>
              </a:rPr>
              <a:t>O Windows não clona processos; ele recria o Python inteiro a cada processo e empacota os dados para </a:t>
            </a:r>
            <a:r>
              <a:rPr lang="en-US" sz="1300">
                <a:latin typeface="Calibri"/>
                <a:ea typeface="Calibri"/>
                <a:cs typeface="Calibri"/>
                <a:sym typeface="Calibri"/>
              </a:rPr>
              <a:t>trocá</a:t>
            </a:r>
            <a:r>
              <a:rPr lang="en-US" sz="1300">
                <a:latin typeface="Calibri"/>
                <a:ea typeface="Calibri"/>
                <a:cs typeface="Calibri"/>
                <a:sym typeface="Calibri"/>
              </a:rPr>
              <a:t>-los entre eles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E3D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/>
          <p:nvPr/>
        </p:nvSpPr>
        <p:spPr>
          <a:xfrm>
            <a:off x="-1645920" y="-1828800"/>
            <a:ext cx="5120640" cy="5120640"/>
          </a:xfrm>
          <a:prstGeom prst="ellipse">
            <a:avLst/>
          </a:prstGeom>
          <a:solidFill>
            <a:srgbClr val="FF6A1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9875520" y="3840480"/>
            <a:ext cx="4572000" cy="4572000"/>
          </a:xfrm>
          <a:prstGeom prst="ellipse">
            <a:avLst/>
          </a:prstGeom>
          <a:solidFill>
            <a:srgbClr val="FF6A13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822960" y="6400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45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9456"/>
                </a:solidFill>
                <a:latin typeface="Calibri"/>
                <a:ea typeface="Calibri"/>
                <a:cs typeface="Calibri"/>
                <a:sym typeface="Calibri"/>
              </a:rPr>
              <a:t>CONCLUS</a:t>
            </a:r>
            <a:r>
              <a:rPr b="1" lang="en-US">
                <a:solidFill>
                  <a:srgbClr val="FF9456"/>
                </a:solidFill>
                <a:latin typeface="Calibri"/>
                <a:ea typeface="Calibri"/>
                <a:cs typeface="Calibri"/>
                <a:sym typeface="Calibri"/>
              </a:rPr>
              <a:t>Ã</a:t>
            </a:r>
            <a:r>
              <a:rPr b="1" i="0" lang="en-US" sz="1400" u="none" cap="none" strike="noStrike">
                <a:solidFill>
                  <a:srgbClr val="FF9456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777240" y="960120"/>
            <a:ext cx="10058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Paralelizar melhora, mas tem limites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822960" y="1874520"/>
            <a:ext cx="64008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CBDCF5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CBDCF5"/>
                </a:solidFill>
                <a:latin typeface="Calibri"/>
                <a:ea typeface="Calibri"/>
                <a:cs typeface="Calibri"/>
                <a:sym typeface="Calibri"/>
              </a:rPr>
              <a:t>O projeto processou mais de 525 </a:t>
            </a:r>
            <a:r>
              <a:rPr lang="en-US" sz="1450">
                <a:solidFill>
                  <a:srgbClr val="CBDCF5"/>
                </a:solidFill>
                <a:latin typeface="Calibri"/>
                <a:ea typeface="Calibri"/>
                <a:cs typeface="Calibri"/>
                <a:sym typeface="Calibri"/>
              </a:rPr>
              <a:t>milhões</a:t>
            </a:r>
            <a:r>
              <a:rPr b="0" i="0" lang="en-US" sz="1450" u="none" cap="none" strike="noStrike">
                <a:solidFill>
                  <a:srgbClr val="CBDCF5"/>
                </a:solidFill>
                <a:latin typeface="Calibri"/>
                <a:ea typeface="Calibri"/>
                <a:cs typeface="Calibri"/>
                <a:sym typeface="Calibri"/>
              </a:rPr>
              <a:t> de palavras de artigos da Wikipedia e reduziu o tempo de </a:t>
            </a:r>
            <a:r>
              <a:rPr lang="en-US" sz="1450">
                <a:solidFill>
                  <a:srgbClr val="CBDCF5"/>
                </a:solidFill>
                <a:latin typeface="Calibri"/>
                <a:ea typeface="Calibri"/>
                <a:cs typeface="Calibri"/>
                <a:sym typeface="Calibri"/>
              </a:rPr>
              <a:t>execução</a:t>
            </a:r>
            <a:r>
              <a:rPr b="0" i="0" lang="en-US" sz="1450" u="none" cap="none" strike="noStrike">
                <a:solidFill>
                  <a:srgbClr val="CBDCF5"/>
                </a:solidFill>
                <a:latin typeface="Calibri"/>
                <a:ea typeface="Calibri"/>
                <a:cs typeface="Calibri"/>
                <a:sym typeface="Calibri"/>
              </a:rPr>
              <a:t> de 349,22 s para 69,86 s, </a:t>
            </a:r>
            <a:r>
              <a:rPr lang="en-US" sz="1450">
                <a:solidFill>
                  <a:srgbClr val="CBDCF5"/>
                </a:solidFill>
                <a:latin typeface="Calibri"/>
                <a:ea typeface="Calibri"/>
                <a:cs typeface="Calibri"/>
                <a:sym typeface="Calibri"/>
              </a:rPr>
              <a:t>alcançando</a:t>
            </a:r>
            <a:r>
              <a:rPr b="0" i="0" lang="en-US" sz="1450" u="none" cap="none" strike="noStrike">
                <a:solidFill>
                  <a:srgbClr val="CBDCF5"/>
                </a:solidFill>
                <a:latin typeface="Calibri"/>
                <a:ea typeface="Calibri"/>
                <a:cs typeface="Calibri"/>
                <a:sym typeface="Calibri"/>
              </a:rPr>
              <a:t> um speedup de aproximadamente 5 vezes com 12 processos.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822960" y="3200400"/>
            <a:ext cx="64008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Processamento de dados e </a:t>
            </a:r>
            <a:r>
              <a:rPr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análise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textual em larga escala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Programa</a:t>
            </a:r>
            <a:r>
              <a:rPr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çã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paralela com </a:t>
            </a:r>
            <a:r>
              <a:rPr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múltiplos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processos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Calculo de speedup e eficiencia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Lei de Amdahl aplicada na pratica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822960" y="4983480"/>
            <a:ext cx="6400800" cy="868680"/>
          </a:xfrm>
          <a:prstGeom prst="roundRect">
            <a:avLst>
              <a:gd fmla="val 7368" name="adj"/>
            </a:avLst>
          </a:prstGeom>
          <a:solidFill>
            <a:srgbClr val="1633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822960" y="5056632"/>
            <a:ext cx="213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456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9456"/>
                </a:solidFill>
                <a:latin typeface="Calibri"/>
                <a:ea typeface="Calibri"/>
                <a:cs typeface="Calibri"/>
                <a:sym typeface="Calibri"/>
              </a:rPr>
              <a:t>525M+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822960" y="5440680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CF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BDCF5"/>
                </a:solidFill>
                <a:latin typeface="Calibri"/>
                <a:ea typeface="Calibri"/>
                <a:cs typeface="Calibri"/>
                <a:sym typeface="Calibri"/>
              </a:rPr>
              <a:t>palavras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2956560" y="5056632"/>
            <a:ext cx="213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456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9456"/>
                </a:solidFill>
                <a:latin typeface="Calibri"/>
                <a:ea typeface="Calibri"/>
                <a:cs typeface="Calibri"/>
                <a:sym typeface="Calibri"/>
              </a:rPr>
              <a:t>5,00x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2956560" y="5440680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CF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BDCF5"/>
                </a:solidFill>
                <a:latin typeface="Calibri"/>
                <a:ea typeface="Calibri"/>
                <a:cs typeface="Calibri"/>
                <a:sym typeface="Calibri"/>
              </a:rPr>
              <a:t>speedup m</a:t>
            </a:r>
            <a:r>
              <a:rPr lang="en-US" sz="1050">
                <a:solidFill>
                  <a:srgbClr val="CBDCF5"/>
                </a:solidFill>
                <a:latin typeface="Calibri"/>
                <a:ea typeface="Calibri"/>
                <a:cs typeface="Calibri"/>
                <a:sym typeface="Calibri"/>
              </a:rPr>
              <a:t>á</a:t>
            </a:r>
            <a:r>
              <a:rPr b="0" i="0" lang="en-US" sz="1050" u="none" cap="none" strike="noStrike">
                <a:solidFill>
                  <a:srgbClr val="CBDCF5"/>
                </a:solidFill>
                <a:latin typeface="Calibri"/>
                <a:ea typeface="Calibri"/>
                <a:cs typeface="Calibri"/>
                <a:sym typeface="Calibri"/>
              </a:rPr>
              <a:t>ximo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5090160" y="5056632"/>
            <a:ext cx="213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456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9456"/>
                </a:solidFill>
                <a:latin typeface="Calibri"/>
                <a:ea typeface="Calibri"/>
                <a:cs typeface="Calibri"/>
                <a:sym typeface="Calibri"/>
              </a:rPr>
              <a:t>79,99%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5090160" y="5440680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CF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BDCF5"/>
                </a:solidFill>
                <a:latin typeface="Calibri"/>
                <a:ea typeface="Calibri"/>
                <a:cs typeface="Calibri"/>
                <a:sym typeface="Calibri"/>
              </a:rPr>
              <a:t>redu</a:t>
            </a:r>
            <a:r>
              <a:rPr lang="en-US" sz="1050">
                <a:solidFill>
                  <a:srgbClr val="CBDCF5"/>
                </a:solidFill>
                <a:latin typeface="Calibri"/>
                <a:ea typeface="Calibri"/>
                <a:cs typeface="Calibri"/>
                <a:sym typeface="Calibri"/>
              </a:rPr>
              <a:t>çã</a:t>
            </a:r>
            <a:r>
              <a:rPr b="0" i="0" lang="en-US" sz="1050" u="none" cap="none" strike="noStrike">
                <a:solidFill>
                  <a:srgbClr val="CBDCF5"/>
                </a:solidFill>
                <a:latin typeface="Calibri"/>
                <a:ea typeface="Calibri"/>
                <a:cs typeface="Calibri"/>
                <a:sym typeface="Calibri"/>
              </a:rPr>
              <a:t>o de tempo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7680960" y="1874520"/>
            <a:ext cx="3703320" cy="3977640"/>
          </a:xfrm>
          <a:prstGeom prst="roundRect">
            <a:avLst>
              <a:gd fmla="val 2469" name="adj"/>
            </a:avLst>
          </a:prstGeom>
          <a:solidFill>
            <a:srgbClr val="FF6A13"/>
          </a:solidFill>
          <a:ln>
            <a:noFill/>
          </a:ln>
          <a:effectLst>
            <a:outerShdw blurRad="101600" rotWithShape="0" algn="bl" dir="2700000" dist="38100">
              <a:srgbClr val="0B1E3D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question_white.png" id="148" name="Google Shape;14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98280" y="2331720"/>
            <a:ext cx="868680" cy="86868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6"/>
          <p:cNvSpPr/>
          <p:nvPr/>
        </p:nvSpPr>
        <p:spPr>
          <a:xfrm>
            <a:off x="7680960" y="3383280"/>
            <a:ext cx="3703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Perguntas?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7680960" y="3931920"/>
            <a:ext cx="3703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Obrigada pela </a:t>
            </a:r>
            <a:r>
              <a:rPr i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atenção</a:t>
            </a:r>
            <a:r>
              <a:rPr b="0" i="1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7680960" y="4892040"/>
            <a:ext cx="3703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Eliane de Freitas  |  Rayna Livia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7680960" y="5193792"/>
            <a:ext cx="3703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E3D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E3D1"/>
                </a:solidFill>
                <a:latin typeface="Calibri"/>
                <a:ea typeface="Calibri"/>
                <a:cs typeface="Calibri"/>
                <a:sym typeface="Calibri"/>
              </a:rPr>
              <a:t>Programacao Concorrente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2026-06-22T23:27:50Z</dcterms:created>
  <dc:creator>Eliane de Freitas e Rayna Livia</dc:creator>
</cp:coreProperties>
</file>