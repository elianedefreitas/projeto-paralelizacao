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2" roundtripDataSignature="AMtx7mirsI5JHCn8l5oB6zYNsmkdtHY5V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023D61F-9B25-46F5-9401-E308C6E56F34}">
  <a:tblStyle styleId="{0023D61F-9B25-46F5-9401-E308C6E56F3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84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4" Type="http://schemas.openxmlformats.org/officeDocument/2006/relationships/slide" Target="slides/slide3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1E3D"/>
                </a:solidFill>
                <a:latin typeface="Arial"/>
              </a:defRPr>
            </a:pPr>
            <a:r>
              <a:rPr lang="pt-BR" sz="1300" b="0" i="0" u="none" strike="noStrike">
                <a:solidFill>
                  <a:srgbClr val="0B1E3D"/>
                </a:solidFill>
                <a:latin typeface="Arial"/>
              </a:rPr>
              <a:t>Speedup obtido vs. ideal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Speedup obtido</c:v>
                </c:pt>
              </c:strCache>
            </c:strRef>
          </c:tx>
          <c:spPr>
            <a:ln w="38100" cap="flat">
              <a:solidFill>
                <a:srgbClr val="FF6A1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F6A13"/>
              </a:solidFill>
              <a:ln w="9525" cap="flat">
                <a:solidFill>
                  <a:srgbClr val="FF6A13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8</c:v>
                </c:pt>
                <c:pt idx="3">
                  <c:v>12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1.61</c:v>
                </c:pt>
                <c:pt idx="1">
                  <c:v>2.93</c:v>
                </c:pt>
                <c:pt idx="2">
                  <c:v>4.37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086-47C9-9452-5C590AEFB52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Speedup ideal</c:v>
                </c:pt>
              </c:strCache>
            </c:strRef>
          </c:tx>
          <c:spPr>
            <a:ln w="38100" cap="flat">
              <a:solidFill>
                <a:srgbClr val="B9C4D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B9C4D6"/>
              </a:solidFill>
              <a:ln w="9525" cap="flat">
                <a:solidFill>
                  <a:srgbClr val="B9C4D6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8</c:v>
                </c:pt>
                <c:pt idx="3">
                  <c:v>12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8</c:v>
                </c:pt>
                <c:pt idx="3">
                  <c:v>12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086-47C9-9452-5C590AEFB52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3627A"/>
                    </a:solidFill>
                    <a:latin typeface="Arial"/>
                  </a:defRPr>
                </a:pPr>
                <a:r>
                  <a:rPr lang="pt-BR" sz="1100" b="0" i="0" u="none" strike="noStrike">
                    <a:solidFill>
                      <a:srgbClr val="53627A"/>
                    </a:solidFill>
                    <a:latin typeface="Arial"/>
                  </a:rPr>
                  <a:t>Numero de processos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3627A"/>
                </a:solidFill>
                <a:latin typeface="Arial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6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3627A"/>
                </a:solidFill>
                <a:latin typeface="Arial"/>
              </a:defRPr>
            </a:pPr>
            <a:endParaRPr lang="pt-B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pt-BR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" name="Google Shape;35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" name="Google Shape;58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1" name="Google Shape;131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D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9692640" y="-1645920"/>
            <a:ext cx="4754880" cy="4754880"/>
          </a:xfrm>
          <a:prstGeom prst="ellipse">
            <a:avLst/>
          </a:prstGeom>
          <a:solidFill>
            <a:srgbClr val="FF6A13">
              <a:alpha val="1215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-1463040" y="4206240"/>
            <a:ext cx="4206240" cy="4206240"/>
          </a:xfrm>
          <a:prstGeom prst="ellipse">
            <a:avLst/>
          </a:prstGeom>
          <a:solidFill>
            <a:srgbClr val="FF6A13">
              <a:alpha val="7843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9456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9456"/>
                </a:solidFill>
                <a:latin typeface="Calibri"/>
                <a:ea typeface="Calibri"/>
                <a:cs typeface="Calibri"/>
                <a:sym typeface="Calibri"/>
              </a:rPr>
              <a:t>PROGRAMACAO CONCORRENTE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777240" y="1417320"/>
            <a:ext cx="9601200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Cambria"/>
              <a:buNone/>
            </a:pPr>
            <a:r>
              <a:rPr lang="en-US" sz="48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Contador de Palavras</a:t>
            </a:r>
            <a:endParaRPr sz="4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822960" y="2514600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BDCF5"/>
              </a:buClr>
              <a:buSzPts val="1700"/>
              <a:buFont typeface="Calibri"/>
              <a:buNone/>
            </a:pPr>
            <a:r>
              <a:rPr lang="en-US" sz="1700" b="0" i="1" u="none" strike="noStrike" cap="none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Processamento paralelo aplicado a uma base real da Wikipedia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822960" y="3337560"/>
            <a:ext cx="7863840" cy="2514600"/>
          </a:xfrm>
          <a:prstGeom prst="roundRect">
            <a:avLst>
              <a:gd name="adj" fmla="val 2909"/>
            </a:avLst>
          </a:prstGeom>
          <a:solidFill>
            <a:srgbClr val="1633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" name="Google Shape;22;p1" descr="/home/claude/icons/users_oran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43000" y="3611880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1"/>
          <p:cNvSpPr/>
          <p:nvPr/>
        </p:nvSpPr>
        <p:spPr>
          <a:xfrm>
            <a:off x="1691640" y="353872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BDCF5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Alunas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1691640" y="3794760"/>
            <a:ext cx="66751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Eliane de Freitas  |  Rayna Livia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" name="Google Shape;25;p1"/>
          <p:cNvCxnSpPr/>
          <p:nvPr/>
        </p:nvCxnSpPr>
        <p:spPr>
          <a:xfrm>
            <a:off x="1143000" y="4279392"/>
            <a:ext cx="7269480" cy="0"/>
          </a:xfrm>
          <a:prstGeom prst="straightConnector1">
            <a:avLst/>
          </a:prstGeom>
          <a:noFill/>
          <a:ln w="12700" cap="flat" cmpd="sng">
            <a:solidFill>
              <a:srgbClr val="2C4A7C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6" name="Google Shape;26;p1" descr="/home/claude/icons/target_oran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3000" y="4434840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1"/>
          <p:cNvSpPr/>
          <p:nvPr/>
        </p:nvSpPr>
        <p:spPr>
          <a:xfrm>
            <a:off x="1691640" y="436168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BDCF5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Curso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1691640" y="4617720"/>
            <a:ext cx="66751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Análise</a:t>
            </a: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e Desenvolvimento de Sistemas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" name="Google Shape;29;p1"/>
          <p:cNvCxnSpPr/>
          <p:nvPr/>
        </p:nvCxnSpPr>
        <p:spPr>
          <a:xfrm>
            <a:off x="1143000" y="5102352"/>
            <a:ext cx="7269480" cy="0"/>
          </a:xfrm>
          <a:prstGeom prst="straightConnector1">
            <a:avLst/>
          </a:prstGeom>
          <a:noFill/>
          <a:ln w="12700" cap="flat" cmpd="sng">
            <a:solidFill>
              <a:srgbClr val="2C4A7C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30" name="Google Shape;30;p1" descr="/home/claude/icons/globe_oran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3000" y="5257800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1"/>
          <p:cNvSpPr/>
          <p:nvPr/>
        </p:nvSpPr>
        <p:spPr>
          <a:xfrm>
            <a:off x="1691640" y="518464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BDCF5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Professor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1691640" y="5440680"/>
            <a:ext cx="66751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Rafael Marconi Ramos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"/>
          <p:cNvSpPr/>
          <p:nvPr/>
        </p:nvSpPr>
        <p:spPr>
          <a:xfrm>
            <a:off x="731520" y="45720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6A13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6A13"/>
                </a:solidFill>
                <a:latin typeface="Calibri"/>
                <a:ea typeface="Calibri"/>
                <a:cs typeface="Calibri"/>
                <a:sym typeface="Calibri"/>
              </a:rPr>
              <a:t>O projeto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731520" y="749808"/>
            <a:ext cx="10515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B1E3D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0B1E3D"/>
                </a:solidFill>
                <a:latin typeface="Cambria"/>
                <a:ea typeface="Cambria"/>
                <a:cs typeface="Cambria"/>
                <a:sym typeface="Cambria"/>
              </a:rPr>
              <a:t>Por que analisar palavras?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731525" y="1600200"/>
            <a:ext cx="6400800" cy="214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3627A"/>
              </a:buClr>
              <a:buSzPts val="1450"/>
              <a:buFont typeface="Calibri"/>
              <a:buNone/>
            </a:pPr>
            <a:r>
              <a:rPr lang="en-US" sz="1450" b="0" i="0" u="none" strike="noStrike" cap="none">
                <a:solidFill>
                  <a:srgbClr val="53627A"/>
                </a:solidFill>
                <a:latin typeface="Calibri"/>
                <a:ea typeface="Calibri"/>
                <a:cs typeface="Calibri"/>
                <a:sym typeface="Calibri"/>
              </a:rPr>
              <a:t>O crescimento exponencial de dados na internet exige ferramentas capazes de processar grandes volumes de texto com eficiencia. Este projeto desenvolve um sistema de contagem de palavras a partir de artigos da </a:t>
            </a:r>
            <a:r>
              <a:rPr lang="en-US" sz="1450">
                <a:solidFill>
                  <a:srgbClr val="53627A"/>
                </a:solidFill>
                <a:latin typeface="Calibri"/>
                <a:ea typeface="Calibri"/>
                <a:cs typeface="Calibri"/>
                <a:sym typeface="Calibri"/>
              </a:rPr>
              <a:t>Wikipédia</a:t>
            </a:r>
            <a:r>
              <a:rPr lang="en-US" sz="1450" b="0" i="0" u="none" strike="noStrike" cap="none">
                <a:solidFill>
                  <a:srgbClr val="53627A"/>
                </a:solidFill>
                <a:latin typeface="Calibri"/>
                <a:ea typeface="Calibri"/>
                <a:cs typeface="Calibri"/>
                <a:sym typeface="Calibri"/>
              </a:rPr>
              <a:t>, aplicando conceitos de processamento de dados e </a:t>
            </a:r>
            <a:r>
              <a:rPr lang="en-US" sz="1450">
                <a:solidFill>
                  <a:srgbClr val="53627A"/>
                </a:solidFill>
                <a:latin typeface="Calibri"/>
                <a:ea typeface="Calibri"/>
                <a:cs typeface="Calibri"/>
                <a:sym typeface="Calibri"/>
              </a:rPr>
              <a:t>programação</a:t>
            </a:r>
            <a:r>
              <a:rPr lang="en-US" sz="1450" b="0" i="0" u="none" strike="noStrike" cap="none">
                <a:solidFill>
                  <a:srgbClr val="53627A"/>
                </a:solidFill>
                <a:latin typeface="Calibri"/>
                <a:ea typeface="Calibri"/>
                <a:cs typeface="Calibri"/>
                <a:sym typeface="Calibri"/>
              </a:rPr>
              <a:t> paralela em um </a:t>
            </a:r>
            <a:r>
              <a:rPr lang="en-US" sz="1450">
                <a:solidFill>
                  <a:srgbClr val="53627A"/>
                </a:solidFill>
                <a:latin typeface="Calibri"/>
                <a:ea typeface="Calibri"/>
                <a:cs typeface="Calibri"/>
                <a:sym typeface="Calibri"/>
              </a:rPr>
              <a:t>cenário</a:t>
            </a:r>
            <a:r>
              <a:rPr lang="en-US" sz="1450" b="0" i="0" u="none" strike="noStrike" cap="none">
                <a:solidFill>
                  <a:srgbClr val="53627A"/>
                </a:solidFill>
                <a:latin typeface="Calibri"/>
                <a:ea typeface="Calibri"/>
                <a:cs typeface="Calibri"/>
                <a:sym typeface="Calibri"/>
              </a:rPr>
              <a:t> real.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7360920" y="1600200"/>
            <a:ext cx="411480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2700000" algn="bl" rotWithShape="0">
              <a:srgbClr val="0B1E3D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2" name="Google Shape;42;p2" descr="/home/claude/icons/chartline_oran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62088" y="1828800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2"/>
          <p:cNvSpPr/>
          <p:nvPr/>
        </p:nvSpPr>
        <p:spPr>
          <a:xfrm>
            <a:off x="8138160" y="1719072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B1E3D"/>
              </a:buClr>
              <a:buSzPts val="1350"/>
              <a:buFont typeface="Calibri"/>
              <a:buNone/>
            </a:pPr>
            <a:r>
              <a:rPr lang="en-US" sz="1350" b="1" i="0" u="none" strike="noStrike" cap="none">
                <a:solidFill>
                  <a:srgbClr val="0B1E3D"/>
                </a:solidFill>
                <a:latin typeface="Calibri"/>
                <a:ea typeface="Calibri"/>
                <a:cs typeface="Calibri"/>
                <a:sym typeface="Calibri"/>
              </a:rPr>
              <a:t>Pesquisa academica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8138160" y="2011680"/>
            <a:ext cx="324612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3627A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53627A"/>
                </a:solidFill>
                <a:latin typeface="Calibri"/>
                <a:ea typeface="Calibri"/>
                <a:cs typeface="Calibri"/>
                <a:sym typeface="Calibri"/>
              </a:rPr>
              <a:t>Apoia </a:t>
            </a:r>
            <a:r>
              <a:rPr lang="en-US" sz="1050">
                <a:solidFill>
                  <a:srgbClr val="53627A"/>
                </a:solidFill>
                <a:latin typeface="Calibri"/>
                <a:ea typeface="Calibri"/>
                <a:cs typeface="Calibri"/>
                <a:sym typeface="Calibri"/>
              </a:rPr>
              <a:t>análises</a:t>
            </a:r>
            <a:r>
              <a:rPr lang="en-US" sz="1050" b="0" i="0" u="none" strike="noStrike" cap="none">
                <a:solidFill>
                  <a:srgbClr val="53627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050">
                <a:solidFill>
                  <a:srgbClr val="53627A"/>
                </a:solidFill>
                <a:latin typeface="Calibri"/>
                <a:ea typeface="Calibri"/>
                <a:cs typeface="Calibri"/>
                <a:sym typeface="Calibri"/>
              </a:rPr>
              <a:t>linguísticas</a:t>
            </a:r>
            <a:r>
              <a:rPr lang="en-US" sz="1050" b="0" i="0" u="none" strike="noStrike" cap="none">
                <a:solidFill>
                  <a:srgbClr val="53627A"/>
                </a:solidFill>
                <a:latin typeface="Calibri"/>
                <a:ea typeface="Calibri"/>
                <a:cs typeface="Calibri"/>
                <a:sym typeface="Calibri"/>
              </a:rPr>
              <a:t> e estudos em larga escala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7360920" y="2560320"/>
            <a:ext cx="411480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2700000" algn="bl" rotWithShape="0">
              <a:srgbClr val="0B1E3D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6" name="Google Shape;46;p2" descr="/home/claude/icons/globe_oran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62088" y="2788920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2"/>
          <p:cNvSpPr/>
          <p:nvPr/>
        </p:nvSpPr>
        <p:spPr>
          <a:xfrm>
            <a:off x="8138160" y="2679192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B1E3D"/>
              </a:buClr>
              <a:buSzPts val="1350"/>
              <a:buFont typeface="Calibri"/>
              <a:buNone/>
            </a:pPr>
            <a:r>
              <a:rPr lang="en-US" sz="1350" b="1" i="0" u="none" strike="noStrike" cap="none">
                <a:solidFill>
                  <a:srgbClr val="0B1E3D"/>
                </a:solidFill>
                <a:latin typeface="Calibri"/>
                <a:ea typeface="Calibri"/>
                <a:cs typeface="Calibri"/>
                <a:sym typeface="Calibri"/>
              </a:rPr>
              <a:t>Sistemas de busca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8138160" y="2971800"/>
            <a:ext cx="324612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3627A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53627A"/>
                </a:solidFill>
                <a:latin typeface="Calibri"/>
                <a:ea typeface="Calibri"/>
                <a:cs typeface="Calibri"/>
                <a:sym typeface="Calibri"/>
              </a:rPr>
              <a:t>Melhora </a:t>
            </a:r>
            <a:r>
              <a:rPr lang="en-US" sz="1050">
                <a:solidFill>
                  <a:srgbClr val="53627A"/>
                </a:solidFill>
                <a:latin typeface="Calibri"/>
                <a:ea typeface="Calibri"/>
                <a:cs typeface="Calibri"/>
                <a:sym typeface="Calibri"/>
              </a:rPr>
              <a:t>indexação</a:t>
            </a:r>
            <a:r>
              <a:rPr lang="en-US" sz="1050" b="0" i="0" u="none" strike="noStrike" cap="none">
                <a:solidFill>
                  <a:srgbClr val="53627A"/>
                </a:solidFill>
                <a:latin typeface="Calibri"/>
                <a:ea typeface="Calibri"/>
                <a:cs typeface="Calibri"/>
                <a:sym typeface="Calibri"/>
              </a:rPr>
              <a:t> e </a:t>
            </a:r>
            <a:r>
              <a:rPr lang="en-US" sz="1050">
                <a:solidFill>
                  <a:srgbClr val="53627A"/>
                </a:solidFill>
                <a:latin typeface="Calibri"/>
                <a:ea typeface="Calibri"/>
                <a:cs typeface="Calibri"/>
                <a:sym typeface="Calibri"/>
              </a:rPr>
              <a:t>recuperação</a:t>
            </a:r>
            <a:r>
              <a:rPr lang="en-US" sz="1050" b="0" i="0" u="none" strike="noStrike" cap="none">
                <a:solidFill>
                  <a:srgbClr val="53627A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1050">
                <a:solidFill>
                  <a:srgbClr val="53627A"/>
                </a:solidFill>
                <a:latin typeface="Calibri"/>
                <a:ea typeface="Calibri"/>
                <a:cs typeface="Calibri"/>
                <a:sym typeface="Calibri"/>
              </a:rPr>
              <a:t>informação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7360920" y="3520440"/>
            <a:ext cx="411480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2700000" algn="bl" rotWithShape="0">
              <a:srgbClr val="0B1E3D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0" name="Google Shape;50;p2" descr="/home/claude/icons/bolt_oran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562088" y="3749040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2"/>
          <p:cNvSpPr/>
          <p:nvPr/>
        </p:nvSpPr>
        <p:spPr>
          <a:xfrm>
            <a:off x="8138160" y="3639312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B1E3D"/>
              </a:buClr>
              <a:buSzPts val="1350"/>
              <a:buFont typeface="Calibri"/>
              <a:buNone/>
            </a:pPr>
            <a:r>
              <a:rPr lang="en-US" sz="1350" b="1" i="0" u="none" strike="noStrike" cap="none">
                <a:solidFill>
                  <a:srgbClr val="0B1E3D"/>
                </a:solidFill>
                <a:latin typeface="Calibri"/>
                <a:ea typeface="Calibri"/>
                <a:cs typeface="Calibri"/>
                <a:sym typeface="Calibri"/>
              </a:rPr>
              <a:t>Inteligencia artificial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8138160" y="3931920"/>
            <a:ext cx="324612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3627A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53627A"/>
                </a:solidFill>
                <a:latin typeface="Calibri"/>
                <a:ea typeface="Calibri"/>
                <a:cs typeface="Calibri"/>
                <a:sym typeface="Calibri"/>
              </a:rPr>
              <a:t>Dá</a:t>
            </a:r>
            <a:r>
              <a:rPr lang="en-US" sz="1050" b="0" i="0" u="none" strike="noStrike" cap="none">
                <a:solidFill>
                  <a:srgbClr val="53627A"/>
                </a:solidFill>
                <a:latin typeface="Calibri"/>
                <a:ea typeface="Calibri"/>
                <a:cs typeface="Calibri"/>
                <a:sym typeface="Calibri"/>
              </a:rPr>
              <a:t> suporte a modelos de processamento de linguagem natural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731520" y="4526280"/>
            <a:ext cx="10744200" cy="1417320"/>
          </a:xfrm>
          <a:prstGeom prst="roundRect">
            <a:avLst>
              <a:gd name="adj" fmla="val 5161"/>
            </a:avLst>
          </a:prstGeom>
          <a:solidFill>
            <a:srgbClr val="0B1E3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/>
          <p:nvPr/>
        </p:nvSpPr>
        <p:spPr>
          <a:xfrm>
            <a:off x="1051560" y="473659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9456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FF9456"/>
                </a:solidFill>
                <a:latin typeface="Calibri"/>
                <a:ea typeface="Calibri"/>
                <a:cs typeface="Calibri"/>
                <a:sym typeface="Calibri"/>
              </a:rPr>
              <a:t>Objetivo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1051560" y="5029200"/>
            <a:ext cx="1010412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Desenvolver e comparar duas </a:t>
            </a:r>
            <a:r>
              <a:rPr lang="en-US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versões</a:t>
            </a:r>
            <a:r>
              <a:rPr lang="en-US" sz="14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de um contador de palavras (serial e paralela), avaliando ganhos reais de desempenho ao processar mais de meio </a:t>
            </a:r>
            <a:r>
              <a:rPr lang="en-US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bilhão</a:t>
            </a:r>
            <a:r>
              <a:rPr lang="en-US" sz="14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de palavras de uma base de 13 GB.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"/>
          <p:cNvSpPr/>
          <p:nvPr/>
        </p:nvSpPr>
        <p:spPr>
          <a:xfrm>
            <a:off x="731520" y="45720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6A13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6A13"/>
                </a:solidFill>
                <a:latin typeface="Calibri"/>
                <a:ea typeface="Calibri"/>
                <a:cs typeface="Calibri"/>
                <a:sym typeface="Calibri"/>
              </a:rPr>
              <a:t>Resultados experimentais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731520" y="749808"/>
            <a:ext cx="10515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B1E3D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0B1E3D"/>
                </a:solidFill>
                <a:latin typeface="Cambria"/>
                <a:ea typeface="Cambria"/>
                <a:cs typeface="Cambria"/>
                <a:sym typeface="Cambria"/>
              </a:rPr>
              <a:t>Versao serial vs. versao paralela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731520" y="1600200"/>
            <a:ext cx="10744200" cy="868680"/>
          </a:xfrm>
          <a:prstGeom prst="roundRect">
            <a:avLst>
              <a:gd name="adj" fmla="val 7368"/>
            </a:avLst>
          </a:prstGeom>
          <a:solidFill>
            <a:srgbClr val="1633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3"/>
          <p:cNvSpPr/>
          <p:nvPr/>
        </p:nvSpPr>
        <p:spPr>
          <a:xfrm>
            <a:off x="731520" y="1691640"/>
            <a:ext cx="35814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9456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9456"/>
                </a:solidFill>
                <a:latin typeface="Calibri"/>
                <a:ea typeface="Calibri"/>
                <a:cs typeface="Calibri"/>
                <a:sym typeface="Calibri"/>
              </a:rPr>
              <a:t>1.000.000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731520" y="2121408"/>
            <a:ext cx="3581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BDCF5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artigos processados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4312920" y="1691640"/>
            <a:ext cx="35814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9456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9456"/>
                </a:solidFill>
                <a:latin typeface="Calibri"/>
                <a:ea typeface="Calibri"/>
                <a:cs typeface="Calibri"/>
                <a:sym typeface="Calibri"/>
              </a:rPr>
              <a:t>525.310.204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4312920" y="2121408"/>
            <a:ext cx="3581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BDCF5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palavras contadas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7894320" y="1691640"/>
            <a:ext cx="35814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9456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9456"/>
                </a:solidFill>
                <a:latin typeface="Calibri"/>
                <a:ea typeface="Calibri"/>
                <a:cs typeface="Calibri"/>
                <a:sym typeface="Calibri"/>
              </a:rPr>
              <a:t>13 GB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7894320" y="2121408"/>
            <a:ext cx="3581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BDCF5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base original (12,5M artigos)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731520" y="2743200"/>
            <a:ext cx="521208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2700000" algn="bl" rotWithShape="0">
              <a:srgbClr val="0B1E3D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1" name="Google Shape;71;p3" descr="/home/claude/icons/server_oran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5840" y="297180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3"/>
          <p:cNvSpPr/>
          <p:nvPr/>
        </p:nvSpPr>
        <p:spPr>
          <a:xfrm>
            <a:off x="1508760" y="2999232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B1E3D"/>
              </a:buClr>
              <a:buSzPts val="1700"/>
              <a:buFont typeface="Calibri"/>
              <a:buNone/>
            </a:pPr>
            <a:r>
              <a:rPr lang="en-US" sz="1700" b="1" i="0" u="none" strike="noStrike" cap="none">
                <a:solidFill>
                  <a:srgbClr val="0B1E3D"/>
                </a:solidFill>
                <a:latin typeface="Calibri"/>
                <a:ea typeface="Calibri"/>
                <a:cs typeface="Calibri"/>
                <a:sym typeface="Calibri"/>
              </a:rPr>
              <a:t>Versao serial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1005840" y="3611880"/>
            <a:ext cx="457200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B1E3D"/>
              </a:buClr>
              <a:buSzPts val="4600"/>
              <a:buFont typeface="Cambria"/>
              <a:buNone/>
            </a:pPr>
            <a:r>
              <a:rPr lang="en-US" sz="4600" b="1" i="0" u="none" strike="noStrike" cap="none">
                <a:solidFill>
                  <a:srgbClr val="0B1E3D"/>
                </a:solidFill>
                <a:latin typeface="Cambria"/>
                <a:ea typeface="Cambria"/>
                <a:cs typeface="Cambria"/>
                <a:sym typeface="Cambria"/>
              </a:rPr>
              <a:t>349,22 s</a:t>
            </a:r>
            <a:endParaRPr sz="4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1051560" y="4370832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3627A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tempo total de 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execução</a:t>
            </a: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(1 processo)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5" name="Google Shape;75;p3"/>
          <p:cNvCxnSpPr/>
          <p:nvPr/>
        </p:nvCxnSpPr>
        <p:spPr>
          <a:xfrm>
            <a:off x="1005840" y="4754880"/>
            <a:ext cx="4663440" cy="0"/>
          </a:xfrm>
          <a:prstGeom prst="straightConnector1">
            <a:avLst/>
          </a:prstGeom>
          <a:noFill/>
          <a:ln w="12700" cap="flat" cmpd="sng">
            <a:solidFill>
              <a:srgbClr val="E2E6E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6" name="Google Shape;76;p3"/>
          <p:cNvSpPr/>
          <p:nvPr/>
        </p:nvSpPr>
        <p:spPr>
          <a:xfrm>
            <a:off x="1005840" y="4937760"/>
            <a:ext cx="46177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3627A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Processa toda a base sequencialmente, palavra por palavra, em um </a:t>
            </a:r>
            <a:r>
              <a:rPr lang="en-US" sz="12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único</a:t>
            </a:r>
            <a:r>
              <a:rPr lang="en-US" sz="12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núcleo</a:t>
            </a:r>
            <a:r>
              <a:rPr lang="en-US" sz="12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do processador.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6217920" y="2743200"/>
            <a:ext cx="5257800" cy="3246120"/>
          </a:xfrm>
          <a:prstGeom prst="roundRect">
            <a:avLst>
              <a:gd name="adj" fmla="val 2254"/>
            </a:avLst>
          </a:prstGeom>
          <a:solidFill>
            <a:srgbClr val="0B1E3D"/>
          </a:solidFill>
          <a:ln>
            <a:noFill/>
          </a:ln>
          <a:effectLst>
            <a:outerShdw blurRad="101600" dist="38100" dir="2700000" algn="bl" rotWithShape="0">
              <a:srgbClr val="0B1E3D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8" name="Google Shape;78;p3" descr="/home/claude/icons/chip_oran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92240" y="297180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3"/>
          <p:cNvSpPr/>
          <p:nvPr/>
        </p:nvSpPr>
        <p:spPr>
          <a:xfrm>
            <a:off x="6995160" y="2999232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lang="en-US" sz="17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Versao paralela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3"/>
          <p:cNvSpPr/>
          <p:nvPr/>
        </p:nvSpPr>
        <p:spPr>
          <a:xfrm>
            <a:off x="6492240" y="35204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BDCF5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2 processos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8961120" y="3520440"/>
            <a:ext cx="2331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216,98 s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2" name="Google Shape;82;p3"/>
          <p:cNvCxnSpPr/>
          <p:nvPr/>
        </p:nvCxnSpPr>
        <p:spPr>
          <a:xfrm>
            <a:off x="6492240" y="3904488"/>
            <a:ext cx="4800600" cy="0"/>
          </a:xfrm>
          <a:prstGeom prst="straightConnector1">
            <a:avLst/>
          </a:prstGeom>
          <a:noFill/>
          <a:ln w="12700" cap="flat" cmpd="sng">
            <a:solidFill>
              <a:srgbClr val="203A6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3" name="Google Shape;83;p3"/>
          <p:cNvSpPr/>
          <p:nvPr/>
        </p:nvSpPr>
        <p:spPr>
          <a:xfrm>
            <a:off x="6492240" y="3995928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BDCF5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4 processos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3"/>
          <p:cNvSpPr/>
          <p:nvPr/>
        </p:nvSpPr>
        <p:spPr>
          <a:xfrm>
            <a:off x="8961120" y="3995928"/>
            <a:ext cx="2331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119,25 s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5" name="Google Shape;85;p3"/>
          <p:cNvCxnSpPr/>
          <p:nvPr/>
        </p:nvCxnSpPr>
        <p:spPr>
          <a:xfrm>
            <a:off x="6492240" y="4379976"/>
            <a:ext cx="4800600" cy="0"/>
          </a:xfrm>
          <a:prstGeom prst="straightConnector1">
            <a:avLst/>
          </a:prstGeom>
          <a:noFill/>
          <a:ln w="12700" cap="flat" cmpd="sng">
            <a:solidFill>
              <a:srgbClr val="203A6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6" name="Google Shape;86;p3"/>
          <p:cNvSpPr/>
          <p:nvPr/>
        </p:nvSpPr>
        <p:spPr>
          <a:xfrm>
            <a:off x="6492240" y="4471416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BDCF5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8 processos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8961120" y="4471416"/>
            <a:ext cx="2331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79,97 s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8" name="Google Shape;88;p3"/>
          <p:cNvCxnSpPr/>
          <p:nvPr/>
        </p:nvCxnSpPr>
        <p:spPr>
          <a:xfrm>
            <a:off x="6492240" y="4855464"/>
            <a:ext cx="4800600" cy="0"/>
          </a:xfrm>
          <a:prstGeom prst="straightConnector1">
            <a:avLst/>
          </a:prstGeom>
          <a:noFill/>
          <a:ln w="12700" cap="flat" cmpd="sng">
            <a:solidFill>
              <a:srgbClr val="203A6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9" name="Google Shape;89;p3"/>
          <p:cNvSpPr/>
          <p:nvPr/>
        </p:nvSpPr>
        <p:spPr>
          <a:xfrm>
            <a:off x="6492240" y="4946904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BDCF5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12 processos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3"/>
          <p:cNvSpPr/>
          <p:nvPr/>
        </p:nvSpPr>
        <p:spPr>
          <a:xfrm>
            <a:off x="8961120" y="4946904"/>
            <a:ext cx="2331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9456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FF9456"/>
                </a:solidFill>
                <a:latin typeface="Calibri"/>
                <a:ea typeface="Calibri"/>
                <a:cs typeface="Calibri"/>
                <a:sym typeface="Calibri"/>
              </a:rPr>
              <a:t>69,86 s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3"/>
          <p:cNvSpPr/>
          <p:nvPr/>
        </p:nvSpPr>
        <p:spPr>
          <a:xfrm>
            <a:off x="6492240" y="5468112"/>
            <a:ext cx="4800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9456"/>
              </a:buClr>
              <a:buSzPts val="1150"/>
              <a:buFont typeface="Calibri"/>
              <a:buNone/>
            </a:pPr>
            <a:r>
              <a:rPr lang="en-US" sz="1150" b="0" u="none" strike="noStrike" cap="none">
                <a:solidFill>
                  <a:srgbClr val="FF9456"/>
                </a:solidFill>
                <a:latin typeface="Calibri"/>
                <a:ea typeface="Calibri"/>
                <a:cs typeface="Calibri"/>
                <a:sym typeface="Calibri"/>
              </a:rPr>
              <a:t>Melhor tempo: 12 processos, com </a:t>
            </a:r>
            <a:r>
              <a:rPr lang="en-US" sz="1150">
                <a:solidFill>
                  <a:srgbClr val="FF9456"/>
                </a:solidFill>
                <a:latin typeface="Calibri"/>
                <a:ea typeface="Calibri"/>
                <a:cs typeface="Calibri"/>
                <a:sym typeface="Calibri"/>
              </a:rPr>
              <a:t>redução</a:t>
            </a:r>
            <a:r>
              <a:rPr lang="en-US" sz="1150" b="0" u="none" strike="noStrike" cap="none">
                <a:solidFill>
                  <a:srgbClr val="FF9456"/>
                </a:solidFill>
                <a:latin typeface="Calibri"/>
                <a:ea typeface="Calibri"/>
                <a:cs typeface="Calibri"/>
                <a:sym typeface="Calibri"/>
              </a:rPr>
              <a:t> de quase 80% em </a:t>
            </a:r>
            <a:r>
              <a:rPr lang="en-US" sz="1150">
                <a:solidFill>
                  <a:srgbClr val="FF9456"/>
                </a:solidFill>
                <a:latin typeface="Calibri"/>
                <a:ea typeface="Calibri"/>
                <a:cs typeface="Calibri"/>
                <a:sym typeface="Calibri"/>
              </a:rPr>
              <a:t>relação</a:t>
            </a:r>
            <a:r>
              <a:rPr lang="en-US" sz="1150" b="0" u="none" strike="noStrike" cap="none">
                <a:solidFill>
                  <a:srgbClr val="FF9456"/>
                </a:solidFill>
                <a:latin typeface="Calibri"/>
                <a:ea typeface="Calibri"/>
                <a:cs typeface="Calibri"/>
                <a:sym typeface="Calibri"/>
              </a:rPr>
              <a:t> ao serial.</a:t>
            </a:r>
            <a:endParaRPr sz="1150" b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"/>
          <p:cNvSpPr/>
          <p:nvPr/>
        </p:nvSpPr>
        <p:spPr>
          <a:xfrm>
            <a:off x="731520" y="41148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6A13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6A13"/>
                </a:solidFill>
                <a:latin typeface="Calibri"/>
                <a:ea typeface="Calibri"/>
                <a:cs typeface="Calibri"/>
                <a:sym typeface="Calibri"/>
              </a:rPr>
              <a:t>Analise de desempenho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4"/>
          <p:cNvSpPr/>
          <p:nvPr/>
        </p:nvSpPr>
        <p:spPr>
          <a:xfrm>
            <a:off x="731520" y="704088"/>
            <a:ext cx="105156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B1E3D"/>
              </a:buClr>
              <a:buSzPts val="2800"/>
              <a:buFont typeface="Cambria"/>
              <a:buNone/>
            </a:pPr>
            <a:r>
              <a:rPr lang="en-US" sz="2800" b="1" i="0" u="none" strike="noStrike" cap="none">
                <a:solidFill>
                  <a:srgbClr val="0B1E3D"/>
                </a:solidFill>
                <a:latin typeface="Cambria"/>
                <a:ea typeface="Cambria"/>
                <a:cs typeface="Cambria"/>
                <a:sym typeface="Cambria"/>
              </a:rPr>
              <a:t>Speedup e eficiencia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4"/>
          <p:cNvSpPr/>
          <p:nvPr/>
        </p:nvSpPr>
        <p:spPr>
          <a:xfrm>
            <a:off x="731520" y="1417320"/>
            <a:ext cx="5120640" cy="777240"/>
          </a:xfrm>
          <a:prstGeom prst="roundRect">
            <a:avLst>
              <a:gd name="adj" fmla="val 7059"/>
            </a:avLst>
          </a:prstGeom>
          <a:solidFill>
            <a:srgbClr val="1633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4"/>
          <p:cNvSpPr/>
          <p:nvPr/>
        </p:nvSpPr>
        <p:spPr>
          <a:xfrm>
            <a:off x="914400" y="1417320"/>
            <a:ext cx="475488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Speedup = Tempo serial / Tempo paralelo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4"/>
          <p:cNvSpPr/>
          <p:nvPr/>
        </p:nvSpPr>
        <p:spPr>
          <a:xfrm>
            <a:off x="5989320" y="1417320"/>
            <a:ext cx="5440680" cy="777240"/>
          </a:xfrm>
          <a:prstGeom prst="roundRect">
            <a:avLst>
              <a:gd name="adj" fmla="val 7059"/>
            </a:avLst>
          </a:prstGeom>
          <a:solidFill>
            <a:srgbClr val="1633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4"/>
          <p:cNvSpPr/>
          <p:nvPr/>
        </p:nvSpPr>
        <p:spPr>
          <a:xfrm>
            <a:off x="6172200" y="1417320"/>
            <a:ext cx="5120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Eficiencia = Speedup / Numero de processos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03" name="Google Shape;103;p4"/>
          <p:cNvGraphicFramePr/>
          <p:nvPr/>
        </p:nvGraphicFramePr>
        <p:xfrm>
          <a:off x="731520" y="2423160"/>
          <a:ext cx="5212075" cy="2468850"/>
        </p:xfrm>
        <a:graphic>
          <a:graphicData uri="http://schemas.openxmlformats.org/drawingml/2006/table">
            <a:tbl>
              <a:tblPr>
                <a:noFill/>
                <a:tableStyleId>{0023D61F-9B25-46F5-9401-E308C6E56F34}</a:tableStyleId>
              </a:tblPr>
              <a:tblGrid>
                <a:gridCol w="1737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Configuracao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B1E3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Tempo (s)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B1E3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Speedup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B1E3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Eficiencia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B1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1E3D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0B1E3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Serial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1E3D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0B1E3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349,22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1E3D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0B1E3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1,00x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1E3D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0B1E3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100,0%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1E3D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0B1E3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 processos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1E3D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0B1E3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216,98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1E3D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0B1E3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1,61x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1E3D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0B1E3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80,5%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1E3D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0B1E3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 processos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1E3D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0B1E3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119,25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1E3D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0B1E3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2,93x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1E3D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0B1E3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73,3%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1E3D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0B1E3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 processos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1E3D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0B1E3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79,97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1E3D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0B1E3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4,37x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B1E3D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>
                          <a:solidFill>
                            <a:srgbClr val="0B1E3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54,6%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B23E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B23E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 processos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3D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B23E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B23E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69,86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3D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B23E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B23E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5,00x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3D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B23E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B23E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41,7%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E3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3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04" name="Google Shape;104;p4"/>
          <p:cNvGraphicFramePr/>
          <p:nvPr/>
        </p:nvGraphicFramePr>
        <p:xfrm>
          <a:off x="6080760" y="2331720"/>
          <a:ext cx="53949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5" name="Google Shape;105;p4"/>
          <p:cNvSpPr/>
          <p:nvPr/>
        </p:nvSpPr>
        <p:spPr>
          <a:xfrm>
            <a:off x="731520" y="5166360"/>
            <a:ext cx="106984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3627A"/>
              </a:buClr>
              <a:buSzPts val="1200"/>
              <a:buFont typeface="Calibri"/>
              <a:buNone/>
            </a:pPr>
            <a:r>
              <a:rPr lang="en-US" sz="1500" b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distância</a:t>
            </a:r>
            <a:r>
              <a:rPr lang="en-US" sz="1500" b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crescente entre as curvas mostra a queda de eficiencia prevista pela Lei de Amdahl.</a:t>
            </a:r>
            <a:endParaRPr sz="1500" b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"/>
          <p:cNvSpPr/>
          <p:nvPr/>
        </p:nvSpPr>
        <p:spPr>
          <a:xfrm>
            <a:off x="731520" y="45720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6A13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6A13"/>
                </a:solidFill>
                <a:latin typeface="Calibri"/>
                <a:ea typeface="Calibri"/>
                <a:cs typeface="Calibri"/>
                <a:sym typeface="Calibri"/>
              </a:rPr>
              <a:t>Discussao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5"/>
          <p:cNvSpPr/>
          <p:nvPr/>
        </p:nvSpPr>
        <p:spPr>
          <a:xfrm>
            <a:off x="731520" y="749808"/>
            <a:ext cx="10515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B1E3D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0B1E3D"/>
                </a:solidFill>
                <a:latin typeface="Cambria"/>
                <a:ea typeface="Cambria"/>
                <a:cs typeface="Cambria"/>
                <a:sym typeface="Cambria"/>
              </a:rPr>
              <a:t>Por que o ganho </a:t>
            </a:r>
            <a:r>
              <a:rPr lang="en-US" sz="3000" b="1">
                <a:solidFill>
                  <a:srgbClr val="0B1E3D"/>
                </a:solidFill>
                <a:latin typeface="Cambria"/>
                <a:ea typeface="Cambria"/>
                <a:cs typeface="Cambria"/>
                <a:sym typeface="Cambria"/>
              </a:rPr>
              <a:t>não</a:t>
            </a:r>
            <a:r>
              <a:rPr lang="en-US" sz="3000" b="1" i="0" u="none" strike="noStrike" cap="none">
                <a:solidFill>
                  <a:srgbClr val="0B1E3D"/>
                </a:solidFill>
                <a:latin typeface="Cambria"/>
                <a:ea typeface="Cambria"/>
                <a:cs typeface="Cambria"/>
                <a:sym typeface="Cambria"/>
              </a:rPr>
              <a:t> foi ideal?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5"/>
          <p:cNvSpPr/>
          <p:nvPr/>
        </p:nvSpPr>
        <p:spPr>
          <a:xfrm>
            <a:off x="731520" y="1691640"/>
            <a:ext cx="521208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2700000" algn="bl" rotWithShape="0">
              <a:srgbClr val="0B1E3D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4" name="Google Shape;114;p5" descr="/home/claude/icons/warning_oran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5840" y="1920240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5"/>
          <p:cNvSpPr/>
          <p:nvPr/>
        </p:nvSpPr>
        <p:spPr>
          <a:xfrm>
            <a:off x="1554480" y="19202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6A13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FF6A13"/>
                </a:solidFill>
                <a:latin typeface="Calibri"/>
                <a:ea typeface="Calibri"/>
                <a:cs typeface="Calibri"/>
                <a:sym typeface="Calibri"/>
              </a:rPr>
              <a:t>Motivo 1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5"/>
          <p:cNvSpPr/>
          <p:nvPr/>
        </p:nvSpPr>
        <p:spPr>
          <a:xfrm>
            <a:off x="1554480" y="2176272"/>
            <a:ext cx="41605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B1E3D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0B1E3D"/>
                </a:solidFill>
                <a:latin typeface="Calibri"/>
                <a:ea typeface="Calibri"/>
                <a:cs typeface="Calibri"/>
                <a:sym typeface="Calibri"/>
              </a:rPr>
              <a:t>Overhead do multiprocessing no Windows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5"/>
          <p:cNvSpPr/>
          <p:nvPr/>
        </p:nvSpPr>
        <p:spPr>
          <a:xfrm>
            <a:off x="1028750" y="3383277"/>
            <a:ext cx="4617600" cy="150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marR="0" lvl="0" indent="-34290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B1E3D"/>
              </a:buClr>
              <a:buSzPts val="1300"/>
              <a:buFont typeface="Calibri"/>
              <a:buChar char="•"/>
            </a:pPr>
            <a:r>
              <a:rPr lang="en-US" sz="1300">
                <a:solidFill>
                  <a:srgbClr val="0B1E3D"/>
                </a:solidFill>
                <a:latin typeface="Calibri"/>
                <a:ea typeface="Calibri"/>
                <a:cs typeface="Calibri"/>
                <a:sym typeface="Calibri"/>
              </a:rPr>
              <a:t>Criação</a:t>
            </a:r>
            <a:r>
              <a:rPr lang="en-US" sz="1300" b="0" u="none" strike="noStrike" cap="none">
                <a:solidFill>
                  <a:srgbClr val="0B1E3D"/>
                </a:solidFill>
                <a:latin typeface="Calibri"/>
                <a:ea typeface="Calibri"/>
                <a:cs typeface="Calibri"/>
                <a:sym typeface="Calibri"/>
              </a:rPr>
              <a:t> dos processos pelo </a:t>
            </a:r>
            <a:r>
              <a:rPr lang="en-US" sz="1300">
                <a:solidFill>
                  <a:srgbClr val="0B1E3D"/>
                </a:solidFill>
                <a:latin typeface="Calibri"/>
                <a:ea typeface="Calibri"/>
                <a:cs typeface="Calibri"/>
                <a:sym typeface="Calibri"/>
              </a:rPr>
              <a:t>método</a:t>
            </a:r>
            <a:r>
              <a:rPr lang="en-US" sz="1300" b="0" u="none" strike="noStrike" cap="none">
                <a:solidFill>
                  <a:srgbClr val="0B1E3D"/>
                </a:solidFill>
                <a:latin typeface="Calibri"/>
                <a:ea typeface="Calibri"/>
                <a:cs typeface="Calibri"/>
                <a:sym typeface="Calibri"/>
              </a:rPr>
              <a:t> spawn</a:t>
            </a:r>
            <a:endParaRPr sz="1300" b="0" u="none" strike="noStrike" cap="none">
              <a:solidFill>
                <a:srgbClr val="0B1E3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B1E3D"/>
              </a:buClr>
              <a:buSzPts val="1300"/>
              <a:buFont typeface="Calibri"/>
              <a:buChar char="•"/>
            </a:pPr>
            <a:r>
              <a:rPr lang="en-US" sz="1300">
                <a:solidFill>
                  <a:srgbClr val="0B1E3D"/>
                </a:solidFill>
                <a:latin typeface="Calibri"/>
                <a:ea typeface="Calibri"/>
                <a:cs typeface="Calibri"/>
                <a:sym typeface="Calibri"/>
              </a:rPr>
              <a:t>Carregamento</a:t>
            </a:r>
            <a:r>
              <a:rPr lang="en-US" sz="1300" b="0" u="none" strike="noStrike" cap="none">
                <a:solidFill>
                  <a:srgbClr val="0B1E3D"/>
                </a:solidFill>
                <a:latin typeface="Calibri"/>
                <a:ea typeface="Calibri"/>
                <a:cs typeface="Calibri"/>
                <a:sym typeface="Calibri"/>
              </a:rPr>
              <a:t> do interpretador Python</a:t>
            </a:r>
            <a:endParaRPr sz="1300" b="0" u="none" strike="noStrike" cap="none">
              <a:solidFill>
                <a:srgbClr val="0B1E3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B1E3D"/>
              </a:buClr>
              <a:buSzPts val="1300"/>
              <a:buFont typeface="Calibri"/>
              <a:buChar char="•"/>
            </a:pPr>
            <a:r>
              <a:rPr lang="en-US" sz="1300">
                <a:solidFill>
                  <a:srgbClr val="0B1E3D"/>
                </a:solidFill>
                <a:latin typeface="Calibri"/>
                <a:ea typeface="Calibri"/>
                <a:cs typeface="Calibri"/>
                <a:sym typeface="Calibri"/>
              </a:rPr>
              <a:t>Serializar</a:t>
            </a:r>
            <a:r>
              <a:rPr lang="en-US" sz="1300" b="0" u="none" strike="noStrike" cap="none">
                <a:solidFill>
                  <a:srgbClr val="0B1E3D"/>
                </a:solidFill>
                <a:latin typeface="Calibri"/>
                <a:ea typeface="Calibri"/>
                <a:cs typeface="Calibri"/>
                <a:sym typeface="Calibri"/>
              </a:rPr>
              <a:t> (pickle) dos dados enviados</a:t>
            </a:r>
            <a:endParaRPr sz="1300" b="0" u="none" strike="noStrike" cap="none">
              <a:solidFill>
                <a:srgbClr val="0B1E3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B1E3D"/>
              </a:buClr>
              <a:buSzPts val="1300"/>
              <a:buFont typeface="Calibri"/>
              <a:buChar char="•"/>
            </a:pPr>
            <a:r>
              <a:rPr lang="en-US" sz="1300">
                <a:solidFill>
                  <a:srgbClr val="0B1E3D"/>
                </a:solidFill>
                <a:latin typeface="Calibri"/>
                <a:ea typeface="Calibri"/>
                <a:cs typeface="Calibri"/>
                <a:sym typeface="Calibri"/>
              </a:rPr>
              <a:t>Desserialização</a:t>
            </a:r>
            <a:r>
              <a:rPr lang="en-US" sz="1300" b="0" u="none" strike="noStrike" cap="none">
                <a:solidFill>
                  <a:srgbClr val="0B1E3D"/>
                </a:solidFill>
                <a:latin typeface="Calibri"/>
                <a:ea typeface="Calibri"/>
                <a:cs typeface="Calibri"/>
                <a:sym typeface="Calibri"/>
              </a:rPr>
              <a:t> dos resultados recebidos</a:t>
            </a:r>
            <a:endParaRPr sz="1300" b="0" u="none" strike="noStrike" cap="none">
              <a:solidFill>
                <a:srgbClr val="0B1E3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B1E3D"/>
              </a:buClr>
              <a:buSzPts val="1300"/>
              <a:buFont typeface="Calibri"/>
              <a:buChar char="•"/>
            </a:pPr>
            <a:r>
              <a:rPr lang="en-US" sz="1300">
                <a:solidFill>
                  <a:srgbClr val="0B1E3D"/>
                </a:solidFill>
                <a:latin typeface="Calibri"/>
                <a:ea typeface="Calibri"/>
                <a:cs typeface="Calibri"/>
                <a:sym typeface="Calibri"/>
              </a:rPr>
              <a:t>Combinação</a:t>
            </a:r>
            <a:r>
              <a:rPr lang="en-US" sz="1300" b="0" u="none" strike="noStrike" cap="none">
                <a:solidFill>
                  <a:srgbClr val="0B1E3D"/>
                </a:solidFill>
                <a:latin typeface="Calibri"/>
                <a:ea typeface="Calibri"/>
                <a:cs typeface="Calibri"/>
                <a:sym typeface="Calibri"/>
              </a:rPr>
              <a:t> final dos contadores de palavras</a:t>
            </a:r>
            <a:endParaRPr sz="1300" b="0" u="none" strike="noStrike" cap="none">
              <a:solidFill>
                <a:srgbClr val="0B1E3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8" name="Google Shape;118;p5"/>
          <p:cNvCxnSpPr/>
          <p:nvPr/>
        </p:nvCxnSpPr>
        <p:spPr>
          <a:xfrm>
            <a:off x="1005828" y="5074915"/>
            <a:ext cx="4663500" cy="0"/>
          </a:xfrm>
          <a:prstGeom prst="straightConnector1">
            <a:avLst/>
          </a:prstGeom>
          <a:noFill/>
          <a:ln w="12700" cap="flat" cmpd="sng">
            <a:solidFill>
              <a:srgbClr val="E2E6E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9" name="Google Shape;119;p5"/>
          <p:cNvSpPr/>
          <p:nvPr/>
        </p:nvSpPr>
        <p:spPr>
          <a:xfrm>
            <a:off x="1005850" y="5074925"/>
            <a:ext cx="4873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27A"/>
              </a:buClr>
              <a:buSzPts val="1200"/>
              <a:buFont typeface="Calibri"/>
              <a:buNone/>
            </a:pP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Esses custos pesam proporcionalmente mais quando há poucos processos.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5"/>
          <p:cNvSpPr/>
          <p:nvPr/>
        </p:nvSpPr>
        <p:spPr>
          <a:xfrm>
            <a:off x="6263640" y="1691640"/>
            <a:ext cx="5212080" cy="4206240"/>
          </a:xfrm>
          <a:prstGeom prst="roundRect">
            <a:avLst>
              <a:gd name="adj" fmla="val 1739"/>
            </a:avLst>
          </a:prstGeom>
          <a:solidFill>
            <a:srgbClr val="0B1E3D"/>
          </a:solidFill>
          <a:ln>
            <a:noFill/>
          </a:ln>
          <a:effectLst>
            <a:outerShdw blurRad="101600" dist="38100" dir="2700000" algn="bl" rotWithShape="0">
              <a:srgbClr val="0B1E3D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1" name="Google Shape;121;p5" descr="/home/claude/icons/chartline_oran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537960" y="1920240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5"/>
          <p:cNvSpPr/>
          <p:nvPr/>
        </p:nvSpPr>
        <p:spPr>
          <a:xfrm>
            <a:off x="7086600" y="19202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9456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FF9456"/>
                </a:solidFill>
                <a:latin typeface="Calibri"/>
                <a:ea typeface="Calibri"/>
                <a:cs typeface="Calibri"/>
                <a:sym typeface="Calibri"/>
              </a:rPr>
              <a:t>Motivo 2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5"/>
          <p:cNvSpPr/>
          <p:nvPr/>
        </p:nvSpPr>
        <p:spPr>
          <a:xfrm>
            <a:off x="7086600" y="2176272"/>
            <a:ext cx="41605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Lei de Amdahl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5"/>
          <p:cNvSpPr/>
          <p:nvPr/>
        </p:nvSpPr>
        <p:spPr>
          <a:xfrm>
            <a:off x="6537960" y="2788920"/>
            <a:ext cx="46634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CF5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O ganho </a:t>
            </a:r>
            <a:r>
              <a:rPr lang="en-US" sz="1300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máximo</a:t>
            </a:r>
            <a:r>
              <a:rPr lang="en-US" sz="1300" b="0" i="0" u="none" strike="noStrike" cap="none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1300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paralelização</a:t>
            </a:r>
            <a:r>
              <a:rPr lang="en-US" sz="1300" b="0" i="0" u="none" strike="noStrike" cap="none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 e limitado pelas partes do programa que permanecem sequenciais, independente do n</a:t>
            </a:r>
            <a:r>
              <a:rPr lang="en-US" sz="1300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ú</a:t>
            </a:r>
            <a:r>
              <a:rPr lang="en-US" sz="1300" b="0" i="0" u="none" strike="noStrike" cap="none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mero de processos.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5"/>
          <p:cNvSpPr/>
          <p:nvPr/>
        </p:nvSpPr>
        <p:spPr>
          <a:xfrm>
            <a:off x="6537960" y="3611880"/>
            <a:ext cx="466344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marR="0" lvl="0" indent="-34290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Char char="•"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Leitura do arquivo Parquet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Char char="•"/>
            </a:pP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Distribuição</a:t>
            </a: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dos blocos de dados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Char char="•"/>
            </a:pP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Serialização</a:t>
            </a: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e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transferência</a:t>
            </a: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informações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Char char="•"/>
            </a:pP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Agregação</a:t>
            </a: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dos resultados finais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6" name="Google Shape;126;p5"/>
          <p:cNvCxnSpPr/>
          <p:nvPr/>
        </p:nvCxnSpPr>
        <p:spPr>
          <a:xfrm>
            <a:off x="6537960" y="5074920"/>
            <a:ext cx="4663440" cy="0"/>
          </a:xfrm>
          <a:prstGeom prst="straightConnector1">
            <a:avLst/>
          </a:prstGeom>
          <a:noFill/>
          <a:ln w="12700" cap="flat" cmpd="sng">
            <a:solidFill>
              <a:srgbClr val="203A6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7" name="Google Shape;127;p5"/>
          <p:cNvSpPr/>
          <p:nvPr/>
        </p:nvSpPr>
        <p:spPr>
          <a:xfrm>
            <a:off x="6537960" y="5212080"/>
            <a:ext cx="466344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F9456"/>
              </a:buClr>
              <a:buSzPts val="1200"/>
              <a:buFont typeface="Calibri"/>
              <a:buNone/>
            </a:pPr>
            <a:r>
              <a:rPr lang="en-US" sz="1200" b="0" u="none" strike="noStrike" cap="none">
                <a:solidFill>
                  <a:srgbClr val="FF9456"/>
                </a:solidFill>
                <a:latin typeface="Calibri"/>
                <a:ea typeface="Calibri"/>
                <a:cs typeface="Calibri"/>
                <a:sym typeface="Calibri"/>
              </a:rPr>
              <a:t>Quanto mais processos, maior a fatia de tempo consumida por essas etapas sequenciais.</a:t>
            </a:r>
            <a:endParaRPr sz="1200" b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5"/>
          <p:cNvSpPr txBox="1"/>
          <p:nvPr/>
        </p:nvSpPr>
        <p:spPr>
          <a:xfrm>
            <a:off x="880475" y="2641450"/>
            <a:ext cx="4765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latin typeface="Calibri"/>
                <a:ea typeface="Calibri"/>
                <a:cs typeface="Calibri"/>
                <a:sym typeface="Calibri"/>
              </a:rPr>
              <a:t>O Windows não clona processos; ele recria o Python inteiro a cada processo e empacota os dados para trocá-los entre eles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D"/>
        </a:solidFill>
        <a:effectLst/>
      </p:bgPr>
    </p:bg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6"/>
          <p:cNvSpPr/>
          <p:nvPr/>
        </p:nvSpPr>
        <p:spPr>
          <a:xfrm>
            <a:off x="-1645920" y="-1828800"/>
            <a:ext cx="5120640" cy="5120640"/>
          </a:xfrm>
          <a:prstGeom prst="ellipse">
            <a:avLst/>
          </a:prstGeom>
          <a:solidFill>
            <a:srgbClr val="FF6A13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6"/>
          <p:cNvSpPr/>
          <p:nvPr/>
        </p:nvSpPr>
        <p:spPr>
          <a:xfrm>
            <a:off x="9875520" y="3840480"/>
            <a:ext cx="4572000" cy="4572000"/>
          </a:xfrm>
          <a:prstGeom prst="ellipse">
            <a:avLst/>
          </a:prstGeom>
          <a:solidFill>
            <a:srgbClr val="FF6A13">
              <a:alpha val="1215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"/>
          <p:cNvSpPr/>
          <p:nvPr/>
        </p:nvSpPr>
        <p:spPr>
          <a:xfrm>
            <a:off x="822960" y="64008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9456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9456"/>
                </a:solidFill>
                <a:latin typeface="Calibri"/>
                <a:ea typeface="Calibri"/>
                <a:cs typeface="Calibri"/>
                <a:sym typeface="Calibri"/>
              </a:rPr>
              <a:t>CONCLUS</a:t>
            </a:r>
            <a:r>
              <a:rPr lang="en-US" b="1">
                <a:solidFill>
                  <a:srgbClr val="FF9456"/>
                </a:solidFill>
                <a:latin typeface="Calibri"/>
                <a:ea typeface="Calibri"/>
                <a:cs typeface="Calibri"/>
                <a:sym typeface="Calibri"/>
              </a:rPr>
              <a:t>Ã</a:t>
            </a:r>
            <a:r>
              <a:rPr lang="en-US" sz="1400" b="1" i="0" u="none" strike="noStrike" cap="none">
                <a:solidFill>
                  <a:srgbClr val="FF9456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777240" y="960120"/>
            <a:ext cx="1005840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Paralelizar melhora, mas tem limites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6"/>
          <p:cNvSpPr/>
          <p:nvPr/>
        </p:nvSpPr>
        <p:spPr>
          <a:xfrm>
            <a:off x="822960" y="1874520"/>
            <a:ext cx="6400800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CBDCF5"/>
              </a:buClr>
              <a:buSzPts val="1450"/>
              <a:buFont typeface="Calibri"/>
              <a:buNone/>
            </a:pPr>
            <a:r>
              <a:rPr lang="en-US" sz="1450" b="0" i="0" u="none" strike="noStrike" cap="none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O projeto processou mais de 525 </a:t>
            </a:r>
            <a:r>
              <a:rPr lang="en-US" sz="1450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milhões</a:t>
            </a:r>
            <a:r>
              <a:rPr lang="en-US" sz="1450" b="0" i="0" u="none" strike="noStrike" cap="none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 de palavras de artigos da Wikipedia e reduziu o tempo de </a:t>
            </a:r>
            <a:r>
              <a:rPr lang="en-US" sz="1450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execução</a:t>
            </a:r>
            <a:r>
              <a:rPr lang="en-US" sz="1450" b="0" i="0" u="none" strike="noStrike" cap="none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 de 349,22 s para 69,86 s, </a:t>
            </a:r>
            <a:r>
              <a:rPr lang="en-US" sz="1450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alcançando</a:t>
            </a:r>
            <a:r>
              <a:rPr lang="en-US" sz="1450" b="0" i="0" u="none" strike="noStrike" cap="none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 um speedup de aproximadamente 5 vezes com 12 processos.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6"/>
          <p:cNvSpPr/>
          <p:nvPr/>
        </p:nvSpPr>
        <p:spPr>
          <a:xfrm>
            <a:off x="822960" y="3200400"/>
            <a:ext cx="6400800" cy="155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Char char="•"/>
            </a:pPr>
            <a:r>
              <a:rPr lang="en-US" sz="14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Processamento de dados e </a:t>
            </a:r>
            <a:r>
              <a:rPr lang="en-US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análise</a:t>
            </a:r>
            <a:r>
              <a:rPr lang="en-US" sz="14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textual em larga escala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Char char="•"/>
            </a:pPr>
            <a:r>
              <a:rPr lang="en-US" sz="14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Programa</a:t>
            </a:r>
            <a:r>
              <a:rPr lang="en-US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çã</a:t>
            </a:r>
            <a:r>
              <a:rPr lang="en-US" sz="14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 paralela com </a:t>
            </a:r>
            <a:r>
              <a:rPr lang="en-US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múltiplos</a:t>
            </a:r>
            <a:r>
              <a:rPr lang="en-US" sz="14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processos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Char char="•"/>
            </a:pPr>
            <a:r>
              <a:rPr lang="en-US" sz="14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Calculo de speedup e eficiencia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Char char="•"/>
            </a:pPr>
            <a:r>
              <a:rPr lang="en-US" sz="14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Lei de Amdahl aplicada na pratica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6"/>
          <p:cNvSpPr/>
          <p:nvPr/>
        </p:nvSpPr>
        <p:spPr>
          <a:xfrm>
            <a:off x="822960" y="4983480"/>
            <a:ext cx="6400800" cy="868680"/>
          </a:xfrm>
          <a:prstGeom prst="roundRect">
            <a:avLst>
              <a:gd name="adj" fmla="val 7368"/>
            </a:avLst>
          </a:prstGeom>
          <a:solidFill>
            <a:srgbClr val="1633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6"/>
          <p:cNvSpPr/>
          <p:nvPr/>
        </p:nvSpPr>
        <p:spPr>
          <a:xfrm>
            <a:off x="822960" y="5056632"/>
            <a:ext cx="2133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9456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FF9456"/>
                </a:solidFill>
                <a:latin typeface="Calibri"/>
                <a:ea typeface="Calibri"/>
                <a:cs typeface="Calibri"/>
                <a:sym typeface="Calibri"/>
              </a:rPr>
              <a:t>525M+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6"/>
          <p:cNvSpPr/>
          <p:nvPr/>
        </p:nvSpPr>
        <p:spPr>
          <a:xfrm>
            <a:off x="822960" y="5440680"/>
            <a:ext cx="2133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BDCF5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palavras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6"/>
          <p:cNvSpPr/>
          <p:nvPr/>
        </p:nvSpPr>
        <p:spPr>
          <a:xfrm>
            <a:off x="2956560" y="5056632"/>
            <a:ext cx="2133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9456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FF9456"/>
                </a:solidFill>
                <a:latin typeface="Calibri"/>
                <a:ea typeface="Calibri"/>
                <a:cs typeface="Calibri"/>
                <a:sym typeface="Calibri"/>
              </a:rPr>
              <a:t>5,00x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6"/>
          <p:cNvSpPr/>
          <p:nvPr/>
        </p:nvSpPr>
        <p:spPr>
          <a:xfrm>
            <a:off x="2956560" y="5440680"/>
            <a:ext cx="2133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BDCF5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speedup m</a:t>
            </a:r>
            <a:r>
              <a:rPr lang="en-US" sz="1050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á</a:t>
            </a:r>
            <a:r>
              <a:rPr lang="en-US" sz="1050" b="0" i="0" u="none" strike="noStrike" cap="none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ximo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6"/>
          <p:cNvSpPr/>
          <p:nvPr/>
        </p:nvSpPr>
        <p:spPr>
          <a:xfrm>
            <a:off x="5090160" y="5056632"/>
            <a:ext cx="2133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9456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FF9456"/>
                </a:solidFill>
                <a:latin typeface="Calibri"/>
                <a:ea typeface="Calibri"/>
                <a:cs typeface="Calibri"/>
                <a:sym typeface="Calibri"/>
              </a:rPr>
              <a:t>79,99%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6"/>
          <p:cNvSpPr/>
          <p:nvPr/>
        </p:nvSpPr>
        <p:spPr>
          <a:xfrm>
            <a:off x="5090160" y="5440680"/>
            <a:ext cx="2133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BDCF5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redu</a:t>
            </a:r>
            <a:r>
              <a:rPr lang="en-US" sz="1050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çã</a:t>
            </a:r>
            <a:r>
              <a:rPr lang="en-US" sz="1050" b="0" i="0" u="none" strike="noStrike" cap="none">
                <a:solidFill>
                  <a:srgbClr val="CBDCF5"/>
                </a:solidFill>
                <a:latin typeface="Calibri"/>
                <a:ea typeface="Calibri"/>
                <a:cs typeface="Calibri"/>
                <a:sym typeface="Calibri"/>
              </a:rPr>
              <a:t>o de tempo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6"/>
          <p:cNvSpPr/>
          <p:nvPr/>
        </p:nvSpPr>
        <p:spPr>
          <a:xfrm>
            <a:off x="7741920" y="1737360"/>
            <a:ext cx="3703320" cy="3977640"/>
          </a:xfrm>
          <a:prstGeom prst="roundRect">
            <a:avLst>
              <a:gd name="adj" fmla="val 2469"/>
            </a:avLst>
          </a:prstGeom>
          <a:solidFill>
            <a:srgbClr val="FF6A13"/>
          </a:solidFill>
          <a:ln>
            <a:noFill/>
          </a:ln>
          <a:effectLst>
            <a:outerShdw blurRad="101600" dist="38100" dir="2700000" algn="bl" rotWithShape="0">
              <a:srgbClr val="0B1E3D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6"/>
          <p:cNvSpPr/>
          <p:nvPr/>
        </p:nvSpPr>
        <p:spPr>
          <a:xfrm>
            <a:off x="7680960" y="3383280"/>
            <a:ext cx="37033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2400"/>
            </a:pPr>
            <a:r>
              <a:rPr lang="en-US" sz="3200" i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Obrigada</a:t>
            </a:r>
            <a:r>
              <a:rPr lang="en-US" sz="3200" i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pela </a:t>
            </a:r>
            <a:r>
              <a:rPr lang="en-US" sz="3200" i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atenção</a:t>
            </a:r>
            <a:r>
              <a:rPr lang="en-US" sz="3200" i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!</a:t>
            </a:r>
            <a:endParaRPr lang="en-US" sz="3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mbria"/>
              <a:buNone/>
            </a:pP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6"/>
          <p:cNvSpPr/>
          <p:nvPr/>
        </p:nvSpPr>
        <p:spPr>
          <a:xfrm>
            <a:off x="7680960" y="393192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6"/>
          <p:cNvSpPr/>
          <p:nvPr/>
        </p:nvSpPr>
        <p:spPr>
          <a:xfrm>
            <a:off x="7680960" y="4892040"/>
            <a:ext cx="37033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Eliane de Freitas  |  Rayna Livia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6"/>
          <p:cNvSpPr/>
          <p:nvPr/>
        </p:nvSpPr>
        <p:spPr>
          <a:xfrm>
            <a:off x="7680960" y="5193792"/>
            <a:ext cx="3703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E3D1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E3D1"/>
                </a:solidFill>
                <a:latin typeface="Calibri"/>
                <a:ea typeface="Calibri"/>
                <a:cs typeface="Calibri"/>
                <a:sym typeface="Calibri"/>
              </a:rPr>
              <a:t>Programacao Concorrente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552</Words>
  <Application>Microsoft Office PowerPoint</Application>
  <PresentationFormat>Widescreen</PresentationFormat>
  <Paragraphs>114</Paragraphs>
  <Slides>6</Slides>
  <Notes>6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Cambria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Eliane de Freitas e Rayna Livia</dc:creator>
  <cp:lastModifiedBy>Aluno</cp:lastModifiedBy>
  <cp:revision>1</cp:revision>
  <dcterms:created xsi:type="dcterms:W3CDTF">2026-06-22T23:27:50Z</dcterms:created>
  <dcterms:modified xsi:type="dcterms:W3CDTF">2026-06-23T21:45:37Z</dcterms:modified>
</cp:coreProperties>
</file>