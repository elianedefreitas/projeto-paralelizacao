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rsI5JHCn8l5oB6zYNsmkdtHY5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C4DD74-B132-4530-B4D9-E5B895A7776B}">
  <a:tblStyle styleId="{02C4DD74-B132-4530-B4D9-E5B895A777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E3D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0B1E3D"/>
                </a:solidFill>
                <a:latin typeface="Arial"/>
              </a:rPr>
              <a:t>Speedup obtido vs. ideal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 obtido</c:v>
                </c:pt>
              </c:strCache>
            </c:strRef>
          </c:tx>
          <c:spPr>
            <a:ln w="38100" cap="flat">
              <a:solidFill>
                <a:srgbClr val="FF6A1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A13"/>
              </a:solidFill>
              <a:ln w="9525" cap="flat">
                <a:solidFill>
                  <a:srgbClr val="FF6A13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1.61</c:v>
                </c:pt>
                <c:pt idx="1">
                  <c:v>2.93</c:v>
                </c:pt>
                <c:pt idx="2">
                  <c:v>4.37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3B-3840-AF62-866981F219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Speedup ideal</c:v>
                </c:pt>
              </c:strCache>
            </c:strRef>
          </c:tx>
          <c:spPr>
            <a:ln w="38100" cap="flat">
              <a:solidFill>
                <a:srgbClr val="B9C4D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9C4D6"/>
              </a:solidFill>
              <a:ln w="9525" cap="flat">
                <a:solidFill>
                  <a:srgbClr val="B9C4D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3B-3840-AF62-866981F219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3627A"/>
                    </a:solidFill>
                    <a:latin typeface="Arial"/>
                  </a:defRPr>
                </a:pPr>
                <a:r>
                  <a:rPr lang="pt-BR" sz="1100" b="0" i="0" u="none" strike="noStrike">
                    <a:solidFill>
                      <a:srgbClr val="53627A"/>
                    </a:solidFill>
                    <a:latin typeface="Arial"/>
                  </a:rPr>
                  <a:t>Numero de processos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627A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627A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pt-B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D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FF6A13">
              <a:alpha val="1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6A1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lang="en-US" b="1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lang="en-US" sz="14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O CONCORRENTE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41732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Contador de Palavras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25146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700"/>
              <a:buFont typeface="Calibri"/>
              <a:buNone/>
            </a:pPr>
            <a:r>
              <a:rPr lang="en-US" sz="1700" b="0" i="1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Processamento paralelo aplicado a uma base real da Wikipedia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337560"/>
            <a:ext cx="7863840" cy="2514600"/>
          </a:xfrm>
          <a:prstGeom prst="roundRect">
            <a:avLst>
              <a:gd name="adj" fmla="val 2909"/>
            </a:avLst>
          </a:prstGeom>
          <a:solidFill>
            <a:srgbClr val="163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" name="Google Shape;22;p1" descr="/home/claude/icons/users_oran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36118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1691640" y="35387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Alunas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691640" y="379476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Eliane de Freitas  |  Rayna Livia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143000" y="4279392"/>
            <a:ext cx="7269480" cy="0"/>
          </a:xfrm>
          <a:prstGeom prst="straightConnector1">
            <a:avLst/>
          </a:prstGeom>
          <a:noFill/>
          <a:ln w="12700" cap="flat" cmpd="sng">
            <a:solidFill>
              <a:srgbClr val="2C4A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Google Shape;26;p1" descr="/home/claude/icons/target_oran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4434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1691640" y="43616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691640" y="461772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Desenvolvimento de Sistemas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1143000" y="5102352"/>
            <a:ext cx="7269480" cy="0"/>
          </a:xfrm>
          <a:prstGeom prst="straightConnector1">
            <a:avLst/>
          </a:prstGeom>
          <a:noFill/>
          <a:ln w="12700" cap="flat" cmpd="sng">
            <a:solidFill>
              <a:srgbClr val="2C4A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" name="Google Shape;30;p1" descr="/home/claude/icons/globe_oran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52578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1691640" y="51846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Professor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691640" y="544068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Rafael Marconi Ramos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O projeto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3152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Por que analisar palavras?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5" y="1600200"/>
            <a:ext cx="6400800" cy="21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O crescimento exponencial de dados na internet exige ferramentas capazes de processar grandes volumes de texto com eficiencia. Este projeto desenvolve um sistema de contagem de palavras a partir de artigos da </a:t>
            </a:r>
            <a:r>
              <a:rPr lang="en-US" sz="14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Wikipédia</a:t>
            </a:r>
            <a:r>
              <a:rPr lang="en-US" sz="14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, aplicando conceitos de processamento de dados e </a:t>
            </a:r>
            <a:r>
              <a:rPr lang="en-US" sz="14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programação</a:t>
            </a:r>
            <a:r>
              <a:rPr lang="en-US" sz="14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paralela em um </a:t>
            </a:r>
            <a:r>
              <a:rPr lang="en-US" sz="14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cenário</a:t>
            </a:r>
            <a:r>
              <a:rPr lang="en-US" sz="14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real.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360920" y="160020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2700000" algn="bl" rotWithShape="0">
              <a:srgbClr val="0B1E3D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p2" descr="/home/claude/icons/chartline_oran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2088" y="18288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8138160" y="17190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Pesquisa academica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138160" y="201168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Apoia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análises</a:t>
            </a:r>
            <a:r>
              <a:rPr lang="en-US" sz="10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linguísticas</a:t>
            </a:r>
            <a:r>
              <a:rPr lang="en-US" sz="10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e estudos em larga escala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60920" y="25603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2700000" algn="bl" rotWithShape="0">
              <a:srgbClr val="0B1E3D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46;p2" descr="/home/claude/icons/globe_oran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62088" y="27889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8138160" y="26791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Sistemas de busca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138160" y="297180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Melhora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indexação</a:t>
            </a:r>
            <a:r>
              <a:rPr lang="en-US" sz="10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recuperação</a:t>
            </a:r>
            <a:r>
              <a:rPr lang="en-US" sz="10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informação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360920" y="352044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2700000" algn="bl" rotWithShape="0">
              <a:srgbClr val="0B1E3D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" name="Google Shape;50;p2" descr="/home/claude/icons/bolt_oran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62088" y="37490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8138160" y="36393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Inteligencia artificial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138160" y="393192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Dá</a:t>
            </a:r>
            <a:r>
              <a:rPr lang="en-US" sz="1050" b="0" i="0" u="none" strike="noStrike" cap="none">
                <a:solidFill>
                  <a:srgbClr val="53627A"/>
                </a:solidFill>
                <a:latin typeface="Calibri"/>
                <a:ea typeface="Calibri"/>
                <a:cs typeface="Calibri"/>
                <a:sym typeface="Calibri"/>
              </a:rPr>
              <a:t> suporte a modelos de processamento de linguagem natural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31520" y="4526280"/>
            <a:ext cx="10744200" cy="1417320"/>
          </a:xfrm>
          <a:prstGeom prst="roundRect">
            <a:avLst>
              <a:gd name="adj" fmla="val 5161"/>
            </a:avLst>
          </a:prstGeom>
          <a:solidFill>
            <a:srgbClr val="0B1E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51560" y="47365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51560" y="5029200"/>
            <a:ext cx="10104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Desenvolver e comparar duas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versões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um contador de palavras (serial e paralela), avaliando ganhos reais de desempenho ao processar mais de meio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bilhão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palavras.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Resultados experimentais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3152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Vers</a:t>
            </a:r>
            <a:r>
              <a:rPr lang="pt-BR" sz="3000" b="1" i="0" u="none" strike="noStrike" cap="none" dirty="0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ã</a:t>
            </a:r>
            <a:r>
              <a:rPr lang="en-US" sz="3000" b="1" i="0" u="none" strike="noStrike" cap="none" dirty="0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o serial vs. Vers</a:t>
            </a:r>
            <a:r>
              <a:rPr lang="pt-BR" sz="3000" b="1" i="0" u="none" strike="noStrike" cap="none" dirty="0" err="1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ão</a:t>
            </a:r>
            <a:r>
              <a:rPr lang="pt-BR" sz="3000" b="1" i="0" u="none" strike="noStrike" cap="none" dirty="0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00" b="1" i="0" u="none" strike="noStrike" cap="none" dirty="0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paralela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31520" y="1600200"/>
            <a:ext cx="10744200" cy="868680"/>
          </a:xfrm>
          <a:prstGeom prst="roundRect">
            <a:avLst>
              <a:gd name="adj" fmla="val 7368"/>
            </a:avLst>
          </a:prstGeom>
          <a:solidFill>
            <a:srgbClr val="163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31520" y="1691640"/>
            <a:ext cx="3581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1.000.000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31520" y="2121408"/>
            <a:ext cx="3581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artigos processados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312920" y="1691640"/>
            <a:ext cx="3581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525.310.204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312920" y="2121408"/>
            <a:ext cx="3581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palavras contadas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894320" y="1691640"/>
            <a:ext cx="3581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13 GB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894320" y="2121408"/>
            <a:ext cx="3581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base original (12,5M artigos)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31520" y="274320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2700000" algn="bl" rotWithShape="0">
              <a:srgbClr val="0B1E3D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3" descr="/home/claude/icons/server_oran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2971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508760" y="29992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700"/>
              <a:buFont typeface="Calibri"/>
              <a:buNone/>
            </a:pPr>
            <a:r>
              <a:rPr lang="en-US" sz="1700" b="1" i="0" u="none" strike="noStrike" cap="none" dirty="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Vers</a:t>
            </a:r>
            <a:r>
              <a:rPr lang="pt-BR" sz="1700" b="1" i="0" u="none" strike="noStrike" cap="none" dirty="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lang="en-US" sz="1700" b="1" i="0" u="none" strike="noStrike" cap="none" dirty="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o serial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05840" y="36118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349,22 s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051560" y="43708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 total de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(1 processo)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1005840" y="4754880"/>
            <a:ext cx="4663440" cy="0"/>
          </a:xfrm>
          <a:prstGeom prst="straightConnector1">
            <a:avLst/>
          </a:prstGeom>
          <a:noFill/>
          <a:ln w="12700" cap="flat" cmpd="sng">
            <a:solidFill>
              <a:srgbClr val="E2E6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3"/>
          <p:cNvSpPr/>
          <p:nvPr/>
        </p:nvSpPr>
        <p:spPr>
          <a:xfrm>
            <a:off x="1005840" y="493776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 toda a base sequencialmente, palavra por palavra, em um </a:t>
            </a: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único</a:t>
            </a: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núcleo</a:t>
            </a: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processador.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217920" y="27432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B1E3D"/>
          </a:solidFill>
          <a:ln>
            <a:noFill/>
          </a:ln>
          <a:effectLst>
            <a:outerShdw blurRad="101600" dist="38100" dir="2700000" algn="bl" rotWithShape="0">
              <a:srgbClr val="0B1E3D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3" descr="/home/claude/icons/chip_oran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2240" y="2971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6995160" y="29992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</a:t>
            </a:r>
            <a:r>
              <a:rPr lang="pt-BR" sz="1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lang="en-US" sz="1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paralela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492240" y="3520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2 processos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961120" y="3520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216,98 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6492240" y="3904488"/>
            <a:ext cx="4800600" cy="0"/>
          </a:xfrm>
          <a:prstGeom prst="straightConnector1">
            <a:avLst/>
          </a:prstGeom>
          <a:noFill/>
          <a:ln w="12700" cap="flat" cmpd="sng">
            <a:solidFill>
              <a:srgbClr val="203A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3"/>
          <p:cNvSpPr/>
          <p:nvPr/>
        </p:nvSpPr>
        <p:spPr>
          <a:xfrm>
            <a:off x="6492240" y="399592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4 processos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961120" y="39959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119,25 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6492240" y="4379976"/>
            <a:ext cx="4800600" cy="0"/>
          </a:xfrm>
          <a:prstGeom prst="straightConnector1">
            <a:avLst/>
          </a:prstGeom>
          <a:noFill/>
          <a:ln w="12700" cap="flat" cmpd="sng">
            <a:solidFill>
              <a:srgbClr val="203A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3"/>
          <p:cNvSpPr/>
          <p:nvPr/>
        </p:nvSpPr>
        <p:spPr>
          <a:xfrm>
            <a:off x="6492240" y="447141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8 processos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961120" y="447141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79,97 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3"/>
          <p:cNvCxnSpPr/>
          <p:nvPr/>
        </p:nvCxnSpPr>
        <p:spPr>
          <a:xfrm>
            <a:off x="6492240" y="4855464"/>
            <a:ext cx="4800600" cy="0"/>
          </a:xfrm>
          <a:prstGeom prst="straightConnector1">
            <a:avLst/>
          </a:prstGeom>
          <a:noFill/>
          <a:ln w="12700" cap="flat" cmpd="sng">
            <a:solidFill>
              <a:srgbClr val="203A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3"/>
          <p:cNvSpPr/>
          <p:nvPr/>
        </p:nvSpPr>
        <p:spPr>
          <a:xfrm>
            <a:off x="6492240" y="494690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12 processos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961120" y="494690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69,86 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92240" y="546811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150"/>
              <a:buFont typeface="Calibri"/>
              <a:buNone/>
            </a:pPr>
            <a:r>
              <a:rPr lang="en-US" sz="1150" b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Melhor tempo: 12 processos, com </a:t>
            </a:r>
            <a:r>
              <a:rPr lang="en-US" sz="1150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redução</a:t>
            </a:r>
            <a:r>
              <a:rPr lang="en-US" sz="1150" b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 de quase 80% em </a:t>
            </a:r>
            <a:r>
              <a:rPr lang="en-US" sz="1150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relação</a:t>
            </a:r>
            <a:r>
              <a:rPr lang="en-US" sz="1150" b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 ao serial.</a:t>
            </a:r>
            <a:endParaRPr sz="1150" b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Analise de desempenho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31520" y="70408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2800"/>
              <a:buFont typeface="Cambria"/>
              <a:buNone/>
            </a:pPr>
            <a:r>
              <a:rPr lang="en-US" sz="2800" b="1" i="0" u="none" strike="noStrike" cap="none" dirty="0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Speedup e efici</a:t>
            </a:r>
            <a:r>
              <a:rPr lang="pt-BR" sz="2800" b="1" i="0" u="none" strike="noStrike" cap="none" dirty="0" err="1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ência</a:t>
            </a:r>
            <a:r>
              <a:rPr lang="pt-BR" sz="2800" b="1" i="0" u="none" strike="noStrike" cap="none" dirty="0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31520" y="14173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63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914400" y="141732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Speedup = Tempo serial / Tempo paralelo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89320" y="1417320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63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4"/>
          <p:cNvSpPr/>
          <p:nvPr/>
        </p:nvSpPr>
        <p:spPr>
          <a:xfrm>
            <a:off x="6172200" y="141732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Efici</a:t>
            </a:r>
            <a:r>
              <a:rPr lang="pt-BR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ência</a:t>
            </a:r>
            <a:r>
              <a:rPr lang="pt-BR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Speedup / Numero de processos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4"/>
          <p:cNvGraphicFramePr/>
          <p:nvPr>
            <p:extLst>
              <p:ext uri="{D42A27DB-BD31-4B8C-83A1-F6EECF244321}">
                <p14:modId xmlns:p14="http://schemas.microsoft.com/office/powerpoint/2010/main" val="2480631210"/>
              </p:ext>
            </p:extLst>
          </p:nvPr>
        </p:nvGraphicFramePr>
        <p:xfrm>
          <a:off x="731520" y="2423160"/>
          <a:ext cx="5212075" cy="2468850"/>
        </p:xfrm>
        <a:graphic>
          <a:graphicData uri="http://schemas.openxmlformats.org/drawingml/2006/table">
            <a:tbl>
              <a:tblPr>
                <a:noFill/>
                <a:tableStyleId>{02C4DD74-B132-4530-B4D9-E5B895A7776B}</a:tableStyleId>
              </a:tblPr>
              <a:tblGrid>
                <a:gridCol w="17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</a:t>
                      </a:r>
                      <a:r>
                        <a:rPr lang="pt-BR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ação 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 (s)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Speedup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Efici</a:t>
                      </a:r>
                      <a:r>
                        <a:rPr lang="pt-BR" sz="120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ência</a:t>
                      </a:r>
                      <a:r>
                        <a:rPr lang="pt-BR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Serial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349,22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1,00x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processos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216,98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1,61x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80,5%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processos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119,25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2,93x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73,3%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processos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79,97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4,37x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E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B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54,6%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E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B23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processos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E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B23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69,86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E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B23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5,00x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E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B23E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41,7%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3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4" name="Google Shape;104;p4"/>
          <p:cNvGraphicFramePr/>
          <p:nvPr/>
        </p:nvGraphicFramePr>
        <p:xfrm>
          <a:off x="6080760" y="233172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Google Shape;105;p4"/>
          <p:cNvSpPr/>
          <p:nvPr/>
        </p:nvSpPr>
        <p:spPr>
          <a:xfrm>
            <a:off x="731520" y="516636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200"/>
              <a:buFont typeface="Calibri"/>
              <a:buNone/>
            </a:pPr>
            <a:r>
              <a:rPr lang="en-US" sz="1500" b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distância</a:t>
            </a:r>
            <a:r>
              <a:rPr lang="en-US" sz="1500" b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crescente entre as curvas mostra a queda de eficiencia prevista pela Lei de Amdahl.</a:t>
            </a:r>
            <a:endParaRPr sz="1500" b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Discus</a:t>
            </a:r>
            <a:r>
              <a:rPr lang="pt-BR" sz="1400" b="1" i="0" u="none" strike="noStrike" cap="none" dirty="0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são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3152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Por que o ganho </a:t>
            </a:r>
            <a:r>
              <a:rPr lang="en-US" sz="3000" b="1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não</a:t>
            </a:r>
            <a:r>
              <a:rPr lang="en-US" sz="3000" b="1" i="0" u="none" strike="noStrike" cap="none">
                <a:solidFill>
                  <a:srgbClr val="0B1E3D"/>
                </a:solidFill>
                <a:latin typeface="Cambria"/>
                <a:ea typeface="Cambria"/>
                <a:cs typeface="Cambria"/>
                <a:sym typeface="Cambria"/>
              </a:rPr>
              <a:t> foi ideal?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3152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2700000" algn="bl" rotWithShape="0">
              <a:srgbClr val="0B1E3D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5" descr="/home/claude/icons/warning_oran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1554480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A1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6A13"/>
                </a:solidFill>
                <a:latin typeface="Calibri"/>
                <a:ea typeface="Calibri"/>
                <a:cs typeface="Calibri"/>
                <a:sym typeface="Calibri"/>
              </a:rPr>
              <a:t>Motivo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554480" y="2176272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Overhead do multiprocessing no Windows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28750" y="3383277"/>
            <a:ext cx="4617600" cy="15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Criação</a:t>
            </a:r>
            <a:r>
              <a:rPr lang="en-US" sz="1300" b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dos processos pelo </a:t>
            </a: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lang="en-US" sz="1300" b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spawn</a:t>
            </a:r>
            <a:endParaRPr sz="1300" b="0" u="none" strike="noStrike" cap="non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Carregamento</a:t>
            </a:r>
            <a:r>
              <a:rPr lang="en-US" sz="1300" b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do interpretador Python</a:t>
            </a:r>
            <a:endParaRPr sz="1300" b="0" u="none" strike="noStrike" cap="non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Serializar</a:t>
            </a:r>
            <a:r>
              <a:rPr lang="en-US" sz="1300" b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(pickle) dos dados enviados</a:t>
            </a:r>
            <a:endParaRPr sz="1300" b="0" u="none" strike="noStrike" cap="non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Desserialização</a:t>
            </a:r>
            <a:r>
              <a:rPr lang="en-US" sz="1300" b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dos resultados recebidos</a:t>
            </a:r>
            <a:endParaRPr sz="1300" b="0" u="none" strike="noStrike" cap="non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E3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Combinação</a:t>
            </a:r>
            <a:r>
              <a:rPr lang="en-US" sz="1300" b="0" u="none" strike="noStrike" cap="none">
                <a:solidFill>
                  <a:srgbClr val="0B1E3D"/>
                </a:solidFill>
                <a:latin typeface="Calibri"/>
                <a:ea typeface="Calibri"/>
                <a:cs typeface="Calibri"/>
                <a:sym typeface="Calibri"/>
              </a:rPr>
              <a:t> final dos contadores de palavras</a:t>
            </a:r>
            <a:endParaRPr sz="1300" b="0" u="none" strike="noStrike" cap="none">
              <a:solidFill>
                <a:srgbClr val="0B1E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5"/>
          <p:cNvCxnSpPr/>
          <p:nvPr/>
        </p:nvCxnSpPr>
        <p:spPr>
          <a:xfrm>
            <a:off x="1005828" y="5074915"/>
            <a:ext cx="4663500" cy="0"/>
          </a:xfrm>
          <a:prstGeom prst="straightConnector1">
            <a:avLst/>
          </a:prstGeom>
          <a:noFill/>
          <a:ln w="12700" cap="flat" cmpd="sng">
            <a:solidFill>
              <a:srgbClr val="E2E6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5"/>
          <p:cNvSpPr/>
          <p:nvPr/>
        </p:nvSpPr>
        <p:spPr>
          <a:xfrm>
            <a:off x="1005850" y="5074925"/>
            <a:ext cx="487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627A"/>
              </a:buClr>
              <a:buSzPts val="12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custos pesam proporcionalmente mais quando há poucos processos.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26364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B1E3D"/>
          </a:solidFill>
          <a:ln>
            <a:noFill/>
          </a:ln>
          <a:effectLst>
            <a:outerShdw blurRad="101600" dist="38100" dir="2700000" algn="bl" rotWithShape="0">
              <a:srgbClr val="0B1E3D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5" descr="/home/claude/icons/chartline_oran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7960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7086600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Motivo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086600" y="2176272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 de Amdahl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537960" y="2788920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O ganho </a:t>
            </a:r>
            <a:r>
              <a:rPr lang="en-US" sz="130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máximo</a:t>
            </a:r>
            <a:r>
              <a:rPr lang="en-US" sz="13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paralelização</a:t>
            </a:r>
            <a:r>
              <a:rPr lang="en-US" sz="13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e limitado pelas partes do programa que permanecem sequenciais, independente do n</a:t>
            </a:r>
            <a:r>
              <a:rPr lang="en-US" sz="130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ú</a:t>
            </a:r>
            <a:r>
              <a:rPr lang="en-US" sz="130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mero de processos.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537960" y="361188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Leitura do arquivo Parquet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dos blocos de dados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Serialização</a:t>
            </a: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transferência</a:t>
            </a: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Agregação</a:t>
            </a: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dos resultados finais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6537960" y="5074920"/>
            <a:ext cx="4663440" cy="0"/>
          </a:xfrm>
          <a:prstGeom prst="straightConnector1">
            <a:avLst/>
          </a:prstGeom>
          <a:noFill/>
          <a:ln w="12700" cap="flat" cmpd="sng">
            <a:solidFill>
              <a:srgbClr val="203A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5"/>
          <p:cNvSpPr/>
          <p:nvPr/>
        </p:nvSpPr>
        <p:spPr>
          <a:xfrm>
            <a:off x="6537960" y="5212080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200"/>
              <a:buFont typeface="Calibri"/>
              <a:buNone/>
            </a:pPr>
            <a:r>
              <a:rPr lang="en-US" sz="1200" b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Quanto mais processos, maior a fatia de tempo consumida por essas etapas sequenciais.</a:t>
            </a:r>
            <a:endParaRPr sz="1200" b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880475" y="2641450"/>
            <a:ext cx="476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O Windows não clona processos; ele recria o Python inteiro a cada processo e empacota os dados para trocá-los entre eles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D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-1645920" y="-1828800"/>
            <a:ext cx="5120640" cy="5120640"/>
          </a:xfrm>
          <a:prstGeom prst="ellipse">
            <a:avLst/>
          </a:prstGeom>
          <a:solidFill>
            <a:srgbClr val="FF6A13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9875520" y="3840480"/>
            <a:ext cx="4572000" cy="4572000"/>
          </a:xfrm>
          <a:prstGeom prst="ellipse">
            <a:avLst/>
          </a:prstGeom>
          <a:solidFill>
            <a:srgbClr val="FF6A13">
              <a:alpha val="1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CONCLUS</a:t>
            </a:r>
            <a:r>
              <a:rPr lang="en-US" b="1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lang="en-US" sz="14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77240" y="96012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Paralelizar melhora, mas tem limites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22960" y="187452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450"/>
              <a:buFont typeface="Calibri"/>
              <a:buNone/>
            </a:pPr>
            <a:r>
              <a:rPr lang="en-US" sz="1450" b="0" i="0" u="none" strike="noStrike" cap="none" dirty="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O projeto processou mais de 525 </a:t>
            </a:r>
            <a:r>
              <a:rPr lang="en-US" sz="1450" dirty="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milhões</a:t>
            </a:r>
            <a:r>
              <a:rPr lang="en-US" sz="1450" b="0" i="0" u="none" strike="noStrike" cap="none" dirty="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de palavras de artigos da Wikipedia e reduziu o tempo de </a:t>
            </a:r>
            <a:r>
              <a:rPr lang="en-US" sz="1450" dirty="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lang="en-US" sz="1450" b="0" i="0" u="none" strike="noStrike" cap="none" dirty="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de 349,22 s para 69,86 s, </a:t>
            </a:r>
            <a:r>
              <a:rPr lang="en-US" sz="1450" dirty="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alcançando</a:t>
            </a:r>
            <a:r>
              <a:rPr lang="en-US" sz="1450" b="0" i="0" u="none" strike="noStrike" cap="none" dirty="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 um speedup de aproximadamente 5 vezes com 12 processos.</a:t>
            </a:r>
            <a:endParaRPr sz="1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22960" y="3200400"/>
            <a:ext cx="64008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Processamento de dados e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textual em larga escala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paralela com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processos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Calculo de speedup e eficiencia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 de Amdahl aplicada na pratica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22960" y="4983480"/>
            <a:ext cx="6400800" cy="868680"/>
          </a:xfrm>
          <a:prstGeom prst="roundRect">
            <a:avLst>
              <a:gd name="adj" fmla="val 7368"/>
            </a:avLst>
          </a:prstGeom>
          <a:solidFill>
            <a:srgbClr val="163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22960" y="5056632"/>
            <a:ext cx="213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525M+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22960" y="544068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palavras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956560" y="5056632"/>
            <a:ext cx="213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5,00x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956560" y="544068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speedup m</a:t>
            </a:r>
            <a:r>
              <a:rPr lang="en-US" sz="105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á</a:t>
            </a:r>
            <a:r>
              <a:rPr lang="en-US" sz="105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ximo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090160" y="5056632"/>
            <a:ext cx="213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456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9456"/>
                </a:solidFill>
                <a:latin typeface="Calibri"/>
                <a:ea typeface="Calibri"/>
                <a:cs typeface="Calibri"/>
                <a:sym typeface="Calibri"/>
              </a:rPr>
              <a:t>79,99%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090160" y="544068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CF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redu</a:t>
            </a:r>
            <a:r>
              <a:rPr lang="en-US" sz="1050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lang="en-US" sz="1050" b="0" i="0" u="none" strike="noStrike" cap="none">
                <a:solidFill>
                  <a:srgbClr val="CBDCF5"/>
                </a:solidFill>
                <a:latin typeface="Calibri"/>
                <a:ea typeface="Calibri"/>
                <a:cs typeface="Calibri"/>
                <a:sym typeface="Calibri"/>
              </a:rPr>
              <a:t>o de tempo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665720" y="1920240"/>
            <a:ext cx="3703320" cy="3977640"/>
          </a:xfrm>
          <a:prstGeom prst="roundRect">
            <a:avLst>
              <a:gd name="adj" fmla="val 13080"/>
            </a:avLst>
          </a:prstGeom>
          <a:solidFill>
            <a:srgbClr val="FF6A13"/>
          </a:solidFill>
          <a:ln>
            <a:noFill/>
          </a:ln>
          <a:effectLst>
            <a:outerShdw blurRad="101600" dist="38100" dir="2700000" algn="bl" rotWithShape="0">
              <a:srgbClr val="0B1E3D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dirty="0">
                <a:solidFill>
                  <a:srgbClr val="CBDCF5"/>
                </a:solidFill>
                <a:latin typeface="Calibri"/>
              </a:rPr>
              <a:t> </a:t>
            </a:r>
            <a:endParaRPr sz="1450" dirty="0">
              <a:solidFill>
                <a:srgbClr val="CBDCF5"/>
              </a:solidFill>
              <a:latin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680960" y="2452549"/>
            <a:ext cx="3703320" cy="243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566660" y="5409743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brigada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pela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atenção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7680960" y="519379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E3D1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9985AC4-0424-4CE4-A1B3-066CC748F331}"/>
              </a:ext>
            </a:extLst>
          </p:cNvPr>
          <p:cNvSpPr txBox="1"/>
          <p:nvPr/>
        </p:nvSpPr>
        <p:spPr>
          <a:xfrm>
            <a:off x="8257032" y="2286000"/>
            <a:ext cx="257860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solidFill>
                  <a:srgbClr val="CBDCF5"/>
                </a:solidFill>
                <a:latin typeface="Calibri"/>
              </a:rPr>
              <a:t>            Top 10 </a:t>
            </a:r>
            <a:r>
              <a:rPr lang="en-US" dirty="0" err="1">
                <a:solidFill>
                  <a:srgbClr val="CBDCF5"/>
                </a:solidFill>
                <a:latin typeface="Calibri"/>
              </a:rPr>
              <a:t>Palavras</a:t>
            </a:r>
            <a:r>
              <a:rPr lang="en-US" dirty="0">
                <a:solidFill>
                  <a:srgbClr val="CBDCF5"/>
                </a:solidFill>
                <a:latin typeface="Calibri"/>
              </a:rPr>
              <a:t>
</a:t>
            </a:r>
            <a:r>
              <a:rPr lang="en-US" dirty="0" err="1">
                <a:solidFill>
                  <a:srgbClr val="CBDCF5"/>
                </a:solidFill>
                <a:latin typeface="Calibri"/>
              </a:rPr>
              <a:t>Palavra</a:t>
            </a:r>
            <a:r>
              <a:rPr lang="en-US" dirty="0">
                <a:solidFill>
                  <a:srgbClr val="CBDCF5"/>
                </a:solidFill>
                <a:latin typeface="Calibri"/>
              </a:rPr>
              <a:t>	</a:t>
            </a:r>
            <a:r>
              <a:rPr lang="en-US" dirty="0" err="1">
                <a:solidFill>
                  <a:srgbClr val="CBDCF5"/>
                </a:solidFill>
                <a:latin typeface="Calibri"/>
              </a:rPr>
              <a:t>Ocorrências</a:t>
            </a:r>
            <a:r>
              <a:rPr lang="en-US" dirty="0">
                <a:solidFill>
                  <a:srgbClr val="CBDCF5"/>
                </a:solidFill>
                <a:latin typeface="Calibri"/>
              </a:rPr>
              <a:t>
the	32.040.567
of	17.093.205
in	14.274.333
and	13.486.227
a	9.334.795
to	8.813.944
was	5.217.657
is	4.017.112
for	3.887.672
on	3.804.643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Widescreen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Eliane de Freitas e Rayna Livia</dc:creator>
  <cp:lastModifiedBy>Aluno</cp:lastModifiedBy>
  <cp:revision>2</cp:revision>
  <dcterms:created xsi:type="dcterms:W3CDTF">2026-06-22T23:27:50Z</dcterms:created>
  <dcterms:modified xsi:type="dcterms:W3CDTF">2026-06-23T23:02:43Z</dcterms:modified>
</cp:coreProperties>
</file>